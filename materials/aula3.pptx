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2.xml" ContentType="application/vnd.openxmlformats-officedocument.theme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22"/>
  </p:notesMasterIdLst>
  <p:sldIdLst>
    <p:sldId id="312" r:id="rId4"/>
    <p:sldId id="313" r:id="rId5"/>
    <p:sldId id="351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</p:sldIdLst>
  <p:sldSz cx="12192000" cy="6858000"/>
  <p:notesSz cx="6858000" cy="9144000"/>
  <p:embeddedFontLs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Light" panose="00000400000000000000" pitchFamily="2" charset="0"/>
      <p:regular r:id="rId27"/>
      <p:bold r:id="rId28"/>
      <p:italic r:id="rId29"/>
      <p:boldItalic r:id="rId30"/>
    </p:embeddedFont>
    <p:embeddedFont>
      <p:font typeface="Poppins Medium" panose="000006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3" id="{6492D9D8-D8B2-445F-A025-3F1B45DC9CF5}">
          <p14:sldIdLst>
            <p14:sldId id="312"/>
            <p14:sldId id="313"/>
            <p14:sldId id="351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4BD3CBB0-6750-1FDD-67D3-2ACB669506AF}" name="Soraia Novaes" initials="SN" userId="S::soraia.novaes@apoiofde.sp.gov.br::f517fece-32b1-4449-a5a1-33836cdfbea7" providerId="AD"/>
  <p188:author id="{323E71DD-2DD6-0498-FA2F-F91E6C9039EE}" name="Manuela Buk de Araujo" initials="MB" userId="0af21dece6336a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9" Type="http://schemas.microsoft.com/office/2018/10/relationships/authors" Target="authors.xml"/><Relationship Id="rId21" Type="http://schemas.openxmlformats.org/officeDocument/2006/relationships/slide" Target="slides/slide18.xml"/><Relationship Id="rId34" Type="http://schemas.openxmlformats.org/officeDocument/2006/relationships/font" Target="fonts/font1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g3ee235a11d4_0_6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2" name="Google Shape;3532;g3ee235a11d4_0_66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533" name="Google Shape;3533;g3ee235a11d4_0_66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3f62be24d6d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7" name="Google Shape;3537;g3f62be24d6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8" name="Google Shape;2728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9" name="Google Shape;2729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6555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g3f62be24d6d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5" name="Google Shape;3595;g3f62be24d6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Google Shape;3613;g3f62be24d6d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4" name="Google Shape;3614;g3f62be24d6d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g3f68a4ec358_0_20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3" name="Google Shape;3623;g3f68a4ec358_0_2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g3f3b32668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8" name="Google Shape;3648;g3f3b32668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g3f3bd26d66e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4" name="Google Shape;3664;g3f3bd26d66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g3f6276e81a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3" name="Google Shape;3683;g3f6276e81a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Google Shape;3705;g3f3af8d0963_0_2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706" name="Google Shape;3706;g3f3af8d0963_0_2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g3f3af8d0963_0_2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1" name="Google Shape;3711;g3f3af8d0963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6" name="Google Shape;3716;g3f3af8d0963_0_2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7" name="Google Shape;3717;g3f3af8d0963_0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g3f3af8d0963_0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3" name="Google Shape;3723;g3f3af8d0963_0_2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724" name="Google Shape;3724;g3f3af8d0963_0_2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" name="Google Shape;3727;g3f3af8d0963_0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8" name="Google Shape;3728;g3f3af8d0963_0_2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729" name="Google Shape;3729;g3f3af8d0963_0_2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g3f68a4ec358_0_2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2" name="Google Shape;3752;g3f68a4ec358_0_2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753" name="Google Shape;3753;g3f68a4ec358_0_2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g3f3af8d0963_0_2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6" name="Google Shape;3776;g3f3af8d0963_0_2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777" name="Google Shape;3777;g3f3af8d0963_0_22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g3f3af8d0963_0_2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2" name="Google Shape;3792;g3f3af8d0963_0_2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793" name="Google Shape;3793;g3f3af8d0963_0_22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g3f3af8d0963_0_2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4" name="Google Shape;3824;g3f3af8d0963_0_2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825" name="Google Shape;3825;g3f3af8d0963_0_22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emf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57148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86992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467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0759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66078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766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558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52" name="Google Shape;952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" name="Google Shape;965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6" name="Google Shape;966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8" name="Google Shape;968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4" name="Google Shape;974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8" name="Google Shape;978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9" name="Google Shape;979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3" name="Google Shape;983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3" name="Google Shape;993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4" name="Google Shape;994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8" name="Google Shape;998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9" name="Google Shape;999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4" name="Google Shape;1004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8" name="Google Shape;1008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9" name="Google Shape;1009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3" name="Google Shape;1013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4" name="Google Shape;1014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5" name="Google Shape;1015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6" name="Google Shape;1016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5" name="Google Shape;1025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6" name="Google Shape;1026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30" name="Google Shape;1030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1" name="Google Shape;1031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2" name="Google Shape;1032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3" name="Google Shape;1033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2" name="Google Shape;1042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3" name="Google Shape;1043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7" name="Google Shape;1047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9" name="Google Shape;1049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50" name="Google Shape;1050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8" name="Google Shape;1058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9" name="Google Shape;1059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60" name="Google Shape;1060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1" name="Google Shape;1061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3" name="Google Shape;1063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8" name="Google Shape;1068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5" name="Google Shape;1075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1" name="Google Shape;1081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Google Shape;1083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5" name="Google Shape;1085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2" name="Google Shape;1092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9" name="Google Shape;1099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1" name="Google Shape;1101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9" name="Google Shape;1109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7" name="Google Shape;1117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5" name="Google Shape;1125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4" name="Google Shape;1134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8" name="Google Shape;1138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6" name="Google Shape;1146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7" name="Google Shape;1157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7" name="Google Shape;1167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7" name="Google Shape;1177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0" name="Google Shape;1180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4" name="Google Shape;1184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5" name="Google Shape;1185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9"/>
          <p:cNvSpPr/>
          <p:nvPr/>
        </p:nvSpPr>
        <p:spPr>
          <a:xfrm>
            <a:off x="2883290" y="2029006"/>
            <a:ext cx="4047000" cy="3766948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/>
          <p:nvPr/>
        </p:nvSpPr>
        <p:spPr>
          <a:xfrm>
            <a:off x="7220006" y="2029005"/>
            <a:ext cx="4544214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7" name="Google Shape;1197;p119"/>
          <p:cNvSpPr txBox="1"/>
          <p:nvPr/>
        </p:nvSpPr>
        <p:spPr>
          <a:xfrm>
            <a:off x="3305837" y="61510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9" name="Google Shape;1199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0" name="Google Shape;1200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A2C4BB5-2AA8-970F-8EF5-9B198B3238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9982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7" name="Google Shape;1817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5" name="Google Shape;1825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6" name="Google Shape;1826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2" name="Google Shape;1842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3" name="Google Shape;1843;p182"/>
          <p:cNvCxnSpPr>
            <a:stCxn id="1842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4" name="Google Shape;1844;p182"/>
          <p:cNvCxnSpPr>
            <a:endCxn id="1823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5" name="Google Shape;1845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6" name="Google Shape;1846;p182"/>
          <p:cNvCxnSpPr>
            <a:stCxn id="1845" idx="4"/>
            <a:endCxn id="1821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7" name="Google Shape;1847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8" name="Google Shape;1848;p182"/>
          <p:cNvCxnSpPr>
            <a:stCxn id="1847" idx="3"/>
            <a:endCxn id="1822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9" name="Google Shape;1849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0" name="Google Shape;1850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5" name="Google Shape;1855;p182"/>
          <p:cNvCxnSpPr>
            <a:stCxn id="1854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6" name="Google Shape;1856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Google Shape;1868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9" name="Google Shape;1869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70" name="Google Shape;1870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2" name="Google Shape;1872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3" name="Google Shape;1873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4" name="Google Shape;1874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5" name="Google Shape;1875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7" name="Google Shape;1877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84" name="Google Shape;1884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6" name="Google Shape;1886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7" name="Google Shape;1887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7" name="Google Shape;1897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8" name="Google Shape;1898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9" name="Google Shape;1899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0" name="Google Shape;1900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1" name="Google Shape;1901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2" name="Google Shape;1902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7" name="Google Shape;1907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8" name="Google Shape;1908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0" name="Google Shape;1910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3" name="Google Shape;1913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4" name="Google Shape;1914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6" name="Google Shape;1916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7" name="Google Shape;1917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8" name="Google Shape;1918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9" name="Google Shape;1919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5" name="Google Shape;1925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7" name="Google Shape;1927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8" name="Google Shape;1928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9" name="Google Shape;1929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2" name="Google Shape;1932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" name="Google Shape;1935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1" name="Google Shape;1941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4" name="Google Shape;1944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9" name="Google Shape;1949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7" name="Google Shape;1957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0" name="Google Shape;196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6" name="Google Shape;1966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4" name="Google Shape;1974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6" name="Google Shape;1976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Google Shape;1979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5" name="Google Shape;1985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7" name="Google Shape;1987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7" name="Google Shape;1997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8" name="Google Shape;1998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Google Shape;2001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7" name="Google Shape;2007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0" name="Google Shape;2010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4" name="Google Shape;2014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5" name="Google Shape;2015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6" name="Google Shape;2016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8" name="Google Shape;2018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5" name="Google Shape;2025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6" name="Google Shape;2026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9" name="Google Shape;2029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2" name="Google Shape;2032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8" name="Google Shape;2038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8" name="Google Shape;2048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Google Shape;2051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" name="Google Shape;2059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6" name="Google Shape;2066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7" name="Google Shape;2067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Google Shape;2070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2" name="Google Shape;2082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7" name="Google Shape;2087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9" name="Google Shape;2089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4" name="Google Shape;2094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" name="Google Shape;2097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2" name="Google Shape;2102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6" name="Google Shape;2106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oogle Shape;2110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1" name="Google Shape;2111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2" name="Google Shape;2112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7" name="Google Shape;2117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3" name="Google Shape;2123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5" name="Google Shape;2125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6" name="Google Shape;2126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4" name="Google Shape;2134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Google Shape;2137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8" name="Google Shape;2158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1" name="Google Shape;2161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" name="Google Shape;2179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4" name="Google Shape;2184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7" name="Google Shape;2187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9" name="Google Shape;2189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1" name="Google Shape;2191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7" name="Google Shape;2197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4" name="Google Shape;2204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7" name="Google Shape;2207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3" name="Google Shape;2213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7" name="Google Shape;2217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2" name="Google Shape;2222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7" name="Google Shape;2227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0" name="Google Shape;2230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2" name="Google Shape;2232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4" name="Google Shape;2234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5" name="Google Shape;2235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7" name="Google Shape;2247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0" name="Google Shape;2250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1" name="Google Shape;2251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5" name="Google Shape;2255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1" name="Google Shape;2291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2" name="Google Shape;2292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4" name="Google Shape;2294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6" name="Google Shape;2296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7" name="Google Shape;2297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0" name="Google Shape;2300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4" name="Google Shape;2304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6" name="Google Shape;2306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1" name="Google Shape;2311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8" name="Google Shape;2318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9" name="Google Shape;2319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" name="Google Shape;2322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6" name="Google Shape;2326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0" name="Google Shape;2330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3" name="Google Shape;2333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4" name="Google Shape;2334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Google Shape;2337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1" name="Google Shape;2341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" name="Google Shape;2344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7" name="Google Shape;2347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8" name="Google Shape;2348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9" name="Google Shape;2359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1" name="Google Shape;2371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4" name="Google Shape;2374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5" name="Google Shape;2375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3" name="Google Shape;2383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386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3" name="Google Shape;2393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" name="Google Shape;2396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7" name="Google Shape;2397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8" name="Google Shape;2398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1" name="Google Shape;2401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6" name="Google Shape;2406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Google Shape;2409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4" name="Google Shape;2414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8" name="Google Shape;2418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3" name="Google Shape;2423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5" name="Google Shape;2425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0" name="Google Shape;2430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3" name="Google Shape;2433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5" name="Google Shape;2435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6" name="Google Shape;2436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8" name="Google Shape;2438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5" name="Google Shape;2445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" name="Google Shape;2447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1" name="Google Shape;2451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4" name="Google Shape;2454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6" name="Google Shape;2456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9" name="Google Shape;2459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1" name="Google Shape;2461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5" name="Google Shape;2465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5" name="Google Shape;2475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7" name="Google Shape;2477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80" name="Google Shape;2480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2" name="Google Shape;2482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3" name="Google Shape;2483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7" name="Google Shape;2487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9" name="Google Shape;2499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500" name="Google Shape;2500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1" name="Google Shape;2501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3" name="Google Shape;2503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0" name="Google Shape;2510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1" name="Google Shape;2511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3" name="Google Shape;2513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4" name="Google Shape;2514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5" name="Google Shape;2515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6" name="Google Shape;2516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7" name="Google Shape;2517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8" name="Google Shape;2518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20" name="Google Shape;2520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2" name="Google Shape;2522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0" name="Google Shape;2530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3" name="Google Shape;2533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4" name="Google Shape;2534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5" name="Google Shape;2535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4" name="Google Shape;2544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5" name="Google Shape;2545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6" name="Google Shape;2546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7" name="Google Shape;2547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8" name="Google Shape;2548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2" name="Google Shape;2552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3" name="Google Shape;2553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4" name="Google Shape;2554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5" name="Google Shape;2555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7" name="Google Shape;2557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" name="Google Shape;2561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3" name="Google Shape;2563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4" name="Google Shape;2564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6" name="Google Shape;2566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" name="Google Shape;2570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2" name="Google Shape;2572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6" name="Google Shape;2576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7" name="Google Shape;2577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1" name="Google Shape;2581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5" name="Google Shape;2585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7" name="Google Shape;2587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1" name="Google Shape;2591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2" name="Google Shape;2592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6" name="Google Shape;2596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7" name="Google Shape;2597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" name="Google Shape;2600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1" name="Google Shape;2601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2" name="Google Shape;2602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6" name="Google Shape;2606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7" name="Google Shape;2607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1" name="Google Shape;2611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2" name="Google Shape;2612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5" name="Google Shape;2615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6" name="Google Shape;2616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7" name="Google Shape;2617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1" name="Google Shape;2621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2" name="Google Shape;2622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6" name="Google Shape;2626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7" name="Google Shape;2627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8" name="Google Shape;2628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9" name="Google Shape;2629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4" name="Google Shape;2634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8" name="Google Shape;2638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9" name="Google Shape;2639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3" name="Google Shape;2643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4" name="Google Shape;2644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5" name="Google Shape;2645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6" name="Google Shape;2646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9" name="Google Shape;2649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0" name="Google Shape;2650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1" name="Google Shape;2651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5" name="Google Shape;2655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6" name="Google Shape;2656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0" name="Google Shape;2660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1" name="Google Shape;2661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2" name="Google Shape;2662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3" name="Google Shape;2663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6" name="Google Shape;2666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1" name="Google Shape;2671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2" name="Google Shape;2672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3" name="Google Shape;2673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4" name="Google Shape;2674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6" name="Google Shape;2676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1" name="Google Shape;2681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4" name="Google Shape;2684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6" name="Google Shape;2686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0" name="Google Shape;2690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1" name="Google Shape;2691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3" name="Google Shape;2693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5" name="Google Shape;2695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9" name="Google Shape;2699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0" name="Google Shape;2700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6" name="Google Shape;2706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7" name="Google Shape;2707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8" name="Google Shape;2708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9" name="Google Shape;2709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41.xml"/><Relationship Id="rId21" Type="http://schemas.openxmlformats.org/officeDocument/2006/relationships/slideLayout" Target="../slideLayouts/slideLayout136.xml"/><Relationship Id="rId42" Type="http://schemas.openxmlformats.org/officeDocument/2006/relationships/slideLayout" Target="../slideLayouts/slideLayout157.xml"/><Relationship Id="rId47" Type="http://schemas.openxmlformats.org/officeDocument/2006/relationships/slideLayout" Target="../slideLayouts/slideLayout162.xml"/><Relationship Id="rId63" Type="http://schemas.openxmlformats.org/officeDocument/2006/relationships/slideLayout" Target="../slideLayouts/slideLayout178.xml"/><Relationship Id="rId68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26.xml"/><Relationship Id="rId32" Type="http://schemas.openxmlformats.org/officeDocument/2006/relationships/slideLayout" Target="../slideLayouts/slideLayout147.xml"/><Relationship Id="rId37" Type="http://schemas.openxmlformats.org/officeDocument/2006/relationships/slideLayout" Target="../slideLayouts/slideLayout152.xml"/><Relationship Id="rId53" Type="http://schemas.openxmlformats.org/officeDocument/2006/relationships/slideLayout" Target="../slideLayouts/slideLayout168.xml"/><Relationship Id="rId58" Type="http://schemas.openxmlformats.org/officeDocument/2006/relationships/slideLayout" Target="../slideLayouts/slideLayout173.xml"/><Relationship Id="rId74" Type="http://schemas.openxmlformats.org/officeDocument/2006/relationships/slideLayout" Target="../slideLayouts/slideLayout189.xml"/><Relationship Id="rId79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20.xml"/><Relationship Id="rId61" Type="http://schemas.openxmlformats.org/officeDocument/2006/relationships/slideLayout" Target="../slideLayouts/slideLayout176.xml"/><Relationship Id="rId82" Type="http://schemas.openxmlformats.org/officeDocument/2006/relationships/slideLayout" Target="../slideLayouts/slideLayout197.xml"/><Relationship Id="rId1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137.xml"/><Relationship Id="rId27" Type="http://schemas.openxmlformats.org/officeDocument/2006/relationships/slideLayout" Target="../slideLayouts/slideLayout142.xml"/><Relationship Id="rId30" Type="http://schemas.openxmlformats.org/officeDocument/2006/relationships/slideLayout" Target="../slideLayouts/slideLayout145.xml"/><Relationship Id="rId35" Type="http://schemas.openxmlformats.org/officeDocument/2006/relationships/slideLayout" Target="../slideLayouts/slideLayout150.xml"/><Relationship Id="rId43" Type="http://schemas.openxmlformats.org/officeDocument/2006/relationships/slideLayout" Target="../slideLayouts/slideLayout158.xml"/><Relationship Id="rId48" Type="http://schemas.openxmlformats.org/officeDocument/2006/relationships/slideLayout" Target="../slideLayouts/slideLayout163.xml"/><Relationship Id="rId56" Type="http://schemas.openxmlformats.org/officeDocument/2006/relationships/slideLayout" Target="../slideLayouts/slideLayout171.xml"/><Relationship Id="rId64" Type="http://schemas.openxmlformats.org/officeDocument/2006/relationships/slideLayout" Target="../slideLayouts/slideLayout179.xml"/><Relationship Id="rId69" Type="http://schemas.openxmlformats.org/officeDocument/2006/relationships/slideLayout" Target="../slideLayouts/slideLayout184.xml"/><Relationship Id="rId77" Type="http://schemas.openxmlformats.org/officeDocument/2006/relationships/slideLayout" Target="../slideLayouts/slideLayout192.xml"/><Relationship Id="rId8" Type="http://schemas.openxmlformats.org/officeDocument/2006/relationships/slideLayout" Target="../slideLayouts/slideLayout123.xml"/><Relationship Id="rId51" Type="http://schemas.openxmlformats.org/officeDocument/2006/relationships/slideLayout" Target="../slideLayouts/slideLayout166.xml"/><Relationship Id="rId72" Type="http://schemas.openxmlformats.org/officeDocument/2006/relationships/slideLayout" Target="../slideLayouts/slideLayout187.xml"/><Relationship Id="rId80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40.xml"/><Relationship Id="rId33" Type="http://schemas.openxmlformats.org/officeDocument/2006/relationships/slideLayout" Target="../slideLayouts/slideLayout148.xml"/><Relationship Id="rId38" Type="http://schemas.openxmlformats.org/officeDocument/2006/relationships/slideLayout" Target="../slideLayouts/slideLayout153.xml"/><Relationship Id="rId46" Type="http://schemas.openxmlformats.org/officeDocument/2006/relationships/slideLayout" Target="../slideLayouts/slideLayout161.xml"/><Relationship Id="rId59" Type="http://schemas.openxmlformats.org/officeDocument/2006/relationships/slideLayout" Target="../slideLayouts/slideLayout174.xml"/><Relationship Id="rId67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35.xml"/><Relationship Id="rId41" Type="http://schemas.openxmlformats.org/officeDocument/2006/relationships/slideLayout" Target="../slideLayouts/slideLayout156.xml"/><Relationship Id="rId54" Type="http://schemas.openxmlformats.org/officeDocument/2006/relationships/slideLayout" Target="../slideLayouts/slideLayout169.xml"/><Relationship Id="rId62" Type="http://schemas.openxmlformats.org/officeDocument/2006/relationships/slideLayout" Target="../slideLayouts/slideLayout177.xml"/><Relationship Id="rId70" Type="http://schemas.openxmlformats.org/officeDocument/2006/relationships/slideLayout" Target="../slideLayouts/slideLayout185.xml"/><Relationship Id="rId75" Type="http://schemas.openxmlformats.org/officeDocument/2006/relationships/slideLayout" Target="../slideLayouts/slideLayout190.xml"/><Relationship Id="rId83" Type="http://schemas.openxmlformats.org/officeDocument/2006/relationships/theme" Target="../theme/theme3.xml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5" Type="http://schemas.openxmlformats.org/officeDocument/2006/relationships/slideLayout" Target="../slideLayouts/slideLayout130.xml"/><Relationship Id="rId23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143.xml"/><Relationship Id="rId36" Type="http://schemas.openxmlformats.org/officeDocument/2006/relationships/slideLayout" Target="../slideLayouts/slideLayout151.xml"/><Relationship Id="rId49" Type="http://schemas.openxmlformats.org/officeDocument/2006/relationships/slideLayout" Target="../slideLayouts/slideLayout164.xml"/><Relationship Id="rId57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6.xml"/><Relationship Id="rId44" Type="http://schemas.openxmlformats.org/officeDocument/2006/relationships/slideLayout" Target="../slideLayouts/slideLayout159.xml"/><Relationship Id="rId52" Type="http://schemas.openxmlformats.org/officeDocument/2006/relationships/slideLayout" Target="../slideLayouts/slideLayout167.xml"/><Relationship Id="rId60" Type="http://schemas.openxmlformats.org/officeDocument/2006/relationships/slideLayout" Target="../slideLayouts/slideLayout175.xml"/><Relationship Id="rId65" Type="http://schemas.openxmlformats.org/officeDocument/2006/relationships/slideLayout" Target="../slideLayouts/slideLayout180.xml"/><Relationship Id="rId73" Type="http://schemas.openxmlformats.org/officeDocument/2006/relationships/slideLayout" Target="../slideLayouts/slideLayout188.xml"/><Relationship Id="rId78" Type="http://schemas.openxmlformats.org/officeDocument/2006/relationships/slideLayout" Target="../slideLayouts/slideLayout193.xml"/><Relationship Id="rId81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8.xml"/><Relationship Id="rId18" Type="http://schemas.openxmlformats.org/officeDocument/2006/relationships/slideLayout" Target="../slideLayouts/slideLayout133.xml"/><Relationship Id="rId39" Type="http://schemas.openxmlformats.org/officeDocument/2006/relationships/slideLayout" Target="../slideLayouts/slideLayout154.xml"/><Relationship Id="rId34" Type="http://schemas.openxmlformats.org/officeDocument/2006/relationships/slideLayout" Target="../slideLayouts/slideLayout149.xml"/><Relationship Id="rId50" Type="http://schemas.openxmlformats.org/officeDocument/2006/relationships/slideLayout" Target="../slideLayouts/slideLayout165.xml"/><Relationship Id="rId55" Type="http://schemas.openxmlformats.org/officeDocument/2006/relationships/slideLayout" Target="../slideLayouts/slideLayout170.xml"/><Relationship Id="rId76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22.xml"/><Relationship Id="rId71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44.xml"/><Relationship Id="rId24" Type="http://schemas.openxmlformats.org/officeDocument/2006/relationships/slideLayout" Target="../slideLayouts/slideLayout139.xml"/><Relationship Id="rId40" Type="http://schemas.openxmlformats.org/officeDocument/2006/relationships/slideLayout" Target="../slideLayouts/slideLayout155.xml"/><Relationship Id="rId45" Type="http://schemas.openxmlformats.org/officeDocument/2006/relationships/slideLayout" Target="../slideLayouts/slideLayout160.xml"/><Relationship Id="rId66" Type="http://schemas.openxmlformats.org/officeDocument/2006/relationships/slideLayout" Target="../slideLayouts/slideLayout1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7" r:id="rId73"/>
    <p:sldLayoutId id="2147483898" r:id="rId74"/>
    <p:sldLayoutId id="2147483899" r:id="rId75"/>
    <p:sldLayoutId id="2147483900" r:id="rId76"/>
    <p:sldLayoutId id="2147483901" r:id="rId77"/>
    <p:sldLayoutId id="2147483902" r:id="rId78"/>
    <p:sldLayoutId id="2147483903" r:id="rId79"/>
    <p:sldLayoutId id="2147483904" r:id="rId80"/>
    <p:sldLayoutId id="2147483905" r:id="rId81"/>
    <p:sldLayoutId id="2147483906" r:id="rId8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9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fy.com.br/criar-menu-interativo-terminal-pyth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while-loo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6.xml"/><Relationship Id="rId6" Type="http://schemas.openxmlformats.org/officeDocument/2006/relationships/hyperlink" Target="https://www.w3schools.com/python/python_while_loops.asp" TargetMode="External"/><Relationship Id="rId5" Type="http://schemas.openxmlformats.org/officeDocument/2006/relationships/hyperlink" Target="https://univali-lite.github.io/Portugol-Studio/" TargetMode="External"/><Relationship Id="rId4" Type="http://schemas.openxmlformats.org/officeDocument/2006/relationships/hyperlink" Target="https://docs.python.org/pt-br/3/tutorial/controlflow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321"/>
          <p:cNvSpPr txBox="1"/>
          <p:nvPr/>
        </p:nvSpPr>
        <p:spPr>
          <a:xfrm>
            <a:off x="898900" y="3576254"/>
            <a:ext cx="6814800" cy="45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321"/>
          <p:cNvSpPr txBox="1"/>
          <p:nvPr/>
        </p:nvSpPr>
        <p:spPr>
          <a:xfrm>
            <a:off x="898900" y="2830653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3: Construindo o menu do projeto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1;p265">
            <a:extLst>
              <a:ext uri="{FF2B5EF4-FFF2-40B4-BE49-F238E27FC236}">
                <a16:creationId xmlns:a16="http://schemas.microsoft.com/office/drawing/2014/main" id="{0490BE17-8399-228D-0CD8-2C28BF745A62}"/>
              </a:ext>
            </a:extLst>
          </p:cNvPr>
          <p:cNvSpPr txBox="1"/>
          <p:nvPr/>
        </p:nvSpPr>
        <p:spPr>
          <a:xfrm>
            <a:off x="525902" y="2022383"/>
            <a:ext cx="7560796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3;p265">
            <a:extLst>
              <a:ext uri="{FF2B5EF4-FFF2-40B4-BE49-F238E27FC236}">
                <a16:creationId xmlns:a16="http://schemas.microsoft.com/office/drawing/2014/main" id="{B4817D49-26B1-FA27-543D-B45E0EDE56E1}"/>
              </a:ext>
            </a:extLst>
          </p:cNvPr>
          <p:cNvSpPr txBox="1"/>
          <p:nvPr/>
        </p:nvSpPr>
        <p:spPr>
          <a:xfrm>
            <a:off x="819487" y="11478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1" name="Google Shape;2731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7" name="Google Shape;2737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8" name="Google Shape;273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6" name="Google Shape;2756;p266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4"/>
            <a:endCxn id="2733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60" name="Google Shape;2760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3" name="Google Shape;2763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266"/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10527188" y="3863654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8" name="Google Shape;276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409206" y="36961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0" name="Google Shape;2770;p266"/>
          <p:cNvSpPr/>
          <p:nvPr/>
        </p:nvSpPr>
        <p:spPr>
          <a:xfrm>
            <a:off x="5919007" y="458997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1" name="Google Shape;2771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801025" y="442242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66"/>
          <p:cNvSpPr txBox="1"/>
          <p:nvPr/>
        </p:nvSpPr>
        <p:spPr>
          <a:xfrm>
            <a:off x="5381059" y="5235585"/>
            <a:ext cx="1839142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</a:p>
        </p:txBody>
      </p:sp>
      <p:cxnSp>
        <p:nvCxnSpPr>
          <p:cNvPr id="2773" name="Google Shape;2773;p266"/>
          <p:cNvCxnSpPr>
            <a:cxnSpLocks/>
            <a:stCxn id="2767" idx="2"/>
            <a:endCxn id="2736" idx="7"/>
          </p:cNvCxnSpPr>
          <p:nvPr/>
        </p:nvCxnSpPr>
        <p:spPr>
          <a:xfrm flipH="1">
            <a:off x="9705578" y="4149854"/>
            <a:ext cx="821610" cy="221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773;p266">
            <a:extLst>
              <a:ext uri="{FF2B5EF4-FFF2-40B4-BE49-F238E27FC236}">
                <a16:creationId xmlns:a16="http://schemas.microsoft.com/office/drawing/2014/main" id="{78B15B8C-4C19-C458-D8F6-8DE8393AEDEE}"/>
              </a:ext>
            </a:extLst>
          </p:cNvPr>
          <p:cNvCxnSpPr>
            <a:cxnSpLocks/>
            <a:stCxn id="2746" idx="0"/>
          </p:cNvCxnSpPr>
          <p:nvPr/>
        </p:nvCxnSpPr>
        <p:spPr>
          <a:xfrm flipH="1">
            <a:off x="6393234" y="4431161"/>
            <a:ext cx="1061783" cy="36283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2772;p266">
            <a:extLst>
              <a:ext uri="{FF2B5EF4-FFF2-40B4-BE49-F238E27FC236}">
                <a16:creationId xmlns:a16="http://schemas.microsoft.com/office/drawing/2014/main" id="{8714F56A-CDBC-4383-66AD-C9F949CDECEF}"/>
              </a:ext>
            </a:extLst>
          </p:cNvPr>
          <p:cNvSpPr txBox="1"/>
          <p:nvPr/>
        </p:nvSpPr>
        <p:spPr>
          <a:xfrm>
            <a:off x="461136" y="3922715"/>
            <a:ext cx="2018821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  <p:cxnSp>
        <p:nvCxnSpPr>
          <p:cNvPr id="17" name="Google Shape;2773;p266">
            <a:extLst>
              <a:ext uri="{FF2B5EF4-FFF2-40B4-BE49-F238E27FC236}">
                <a16:creationId xmlns:a16="http://schemas.microsoft.com/office/drawing/2014/main" id="{0BAFA023-7E92-B954-1B50-13C6AD7F7AAB}"/>
              </a:ext>
            </a:extLst>
          </p:cNvPr>
          <p:cNvCxnSpPr>
            <a:cxnSpLocks/>
            <a:stCxn id="2740" idx="0"/>
            <a:endCxn id="3" idx="4"/>
          </p:cNvCxnSpPr>
          <p:nvPr/>
        </p:nvCxnSpPr>
        <p:spPr>
          <a:xfrm flipV="1">
            <a:off x="2606662" y="4033560"/>
            <a:ext cx="272" cy="137258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2754;p266">
            <a:extLst>
              <a:ext uri="{FF2B5EF4-FFF2-40B4-BE49-F238E27FC236}">
                <a16:creationId xmlns:a16="http://schemas.microsoft.com/office/drawing/2014/main" id="{8AC27033-6F22-3CE2-A4A4-B18C9A7F3773}"/>
              </a:ext>
            </a:extLst>
          </p:cNvPr>
          <p:cNvSpPr/>
          <p:nvPr/>
        </p:nvSpPr>
        <p:spPr>
          <a:xfrm>
            <a:off x="2338884" y="3497460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759;p266">
            <a:extLst>
              <a:ext uri="{FF2B5EF4-FFF2-40B4-BE49-F238E27FC236}">
                <a16:creationId xmlns:a16="http://schemas.microsoft.com/office/drawing/2014/main" id="{603CC900-40C4-927D-CC30-4782674D83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192940" y="334427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58;p266">
            <a:extLst>
              <a:ext uri="{FF2B5EF4-FFF2-40B4-BE49-F238E27FC236}">
                <a16:creationId xmlns:a16="http://schemas.microsoft.com/office/drawing/2014/main" id="{F8EDC520-1644-D63D-1E70-7192644745BF}"/>
              </a:ext>
            </a:extLst>
          </p:cNvPr>
          <p:cNvSpPr txBox="1"/>
          <p:nvPr/>
        </p:nvSpPr>
        <p:spPr>
          <a:xfrm>
            <a:off x="473244" y="3636888"/>
            <a:ext cx="1839142" cy="27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2;p266">
            <a:extLst>
              <a:ext uri="{FF2B5EF4-FFF2-40B4-BE49-F238E27FC236}">
                <a16:creationId xmlns:a16="http://schemas.microsoft.com/office/drawing/2014/main" id="{F150A291-E267-9561-3F60-036814C650AD}"/>
              </a:ext>
            </a:extLst>
          </p:cNvPr>
          <p:cNvSpPr txBox="1"/>
          <p:nvPr/>
        </p:nvSpPr>
        <p:spPr>
          <a:xfrm>
            <a:off x="6510730" y="504694"/>
            <a:ext cx="2477840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</a:p>
        </p:txBody>
      </p:sp>
      <p:sp>
        <p:nvSpPr>
          <p:cNvPr id="5" name="Google Shape;2769;p266">
            <a:extLst>
              <a:ext uri="{FF2B5EF4-FFF2-40B4-BE49-F238E27FC236}">
                <a16:creationId xmlns:a16="http://schemas.microsoft.com/office/drawing/2014/main" id="{3854CB9D-6604-4838-8C91-C4B15A5855F1}"/>
              </a:ext>
            </a:extLst>
          </p:cNvPr>
          <p:cNvSpPr txBox="1"/>
          <p:nvPr/>
        </p:nvSpPr>
        <p:spPr>
          <a:xfrm>
            <a:off x="10210698" y="4529690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 e desafios no terminal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2159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7" name="Google Shape;3597;p323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598" name="Google Shape;3598;p323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p323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0" name="Google Shape;3600;p323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1" name="Google Shape;3601;p323"/>
          <p:cNvSpPr txBox="1"/>
          <p:nvPr/>
        </p:nvSpPr>
        <p:spPr>
          <a:xfrm>
            <a:off x="3331828" y="5113258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SISANO1C1B4S21A3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5" name="Google Shape;3605;p323"/>
          <p:cNvSpPr txBox="1"/>
          <p:nvPr/>
        </p:nvSpPr>
        <p:spPr>
          <a:xfrm>
            <a:off x="3331829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6" name="Google Shape;3606;p323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7" name="Google Shape;3607;p323"/>
          <p:cNvSpPr txBox="1"/>
          <p:nvPr/>
        </p:nvSpPr>
        <p:spPr>
          <a:xfrm>
            <a:off x="3331828" y="4361163"/>
            <a:ext cx="5752673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3: Construindo o menu do projeto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3;p266">
            <a:extLst>
              <a:ext uri="{FF2B5EF4-FFF2-40B4-BE49-F238E27FC236}">
                <a16:creationId xmlns:a16="http://schemas.microsoft.com/office/drawing/2014/main" id="{488E7BE4-9051-1D5B-DC11-813E477B80FB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64;p266">
            <a:extLst>
              <a:ext uri="{FF2B5EF4-FFF2-40B4-BE49-F238E27FC236}">
                <a16:creationId xmlns:a16="http://schemas.microsoft.com/office/drawing/2014/main" id="{84A26453-CC2B-457C-DD54-546F8AE96761}"/>
              </a:ext>
            </a:extLst>
          </p:cNvPr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2765;p266">
            <a:extLst>
              <a:ext uri="{FF2B5EF4-FFF2-40B4-BE49-F238E27FC236}">
                <a16:creationId xmlns:a16="http://schemas.microsoft.com/office/drawing/2014/main" id="{88E2F423-10C6-9E3C-1D5C-0F55ADEBF76D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6;p266">
            <a:extLst>
              <a:ext uri="{FF2B5EF4-FFF2-40B4-BE49-F238E27FC236}">
                <a16:creationId xmlns:a16="http://schemas.microsoft.com/office/drawing/2014/main" id="{AFEAAD12-061D-5875-85EB-A11BCEAC3297}"/>
              </a:ext>
            </a:extLst>
          </p:cNvPr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p32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/>
              <a:t>Implementar o menu textual do projeto com repetição e desvio de fluxo conforme a escolha do usuário.</a:t>
            </a:r>
            <a:endParaRPr/>
          </a:p>
        </p:txBody>
      </p:sp>
      <p:sp>
        <p:nvSpPr>
          <p:cNvPr id="3618" name="Google Shape;3618;p32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funções, estruturas de decisão e repetição na construção de programas com menu e fluxo de interação textual.</a:t>
            </a:r>
            <a:endParaRPr/>
          </a:p>
        </p:txBody>
      </p:sp>
      <p:sp>
        <p:nvSpPr>
          <p:cNvPr id="3619" name="Google Shape;3619;p324"/>
          <p:cNvSpPr txBox="1">
            <a:spLocks noGrp="1"/>
          </p:cNvSpPr>
          <p:nvPr>
            <p:ph type="body" idx="3"/>
          </p:nvPr>
        </p:nvSpPr>
        <p:spPr>
          <a:xfrm>
            <a:off x="7467375" y="340995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Persistir na decomposição de problemas em etapas menores, mantendo organização e clareza ao planejar soluções algorítmicas.</a:t>
            </a:r>
            <a:endParaRPr/>
          </a:p>
        </p:txBody>
      </p:sp>
      <p:sp>
        <p:nvSpPr>
          <p:cNvPr id="3620" name="Google Shape;3620;p324"/>
          <p:cNvSpPr txBox="1">
            <a:spLocks noGrp="1"/>
          </p:cNvSpPr>
          <p:nvPr>
            <p:ph type="body" idx="4"/>
          </p:nvPr>
        </p:nvSpPr>
        <p:spPr>
          <a:xfrm>
            <a:off x="1467909" y="340995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>
                <a:solidFill>
                  <a:schemeClr val="dk1"/>
                </a:solidFill>
              </a:rPr>
              <a:t>Computador com internet.</a:t>
            </a:r>
            <a:endParaRPr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500"/>
              <a:buChar char="•"/>
            </a:pPr>
            <a:r>
              <a:rPr lang="pt-BR" dirty="0">
                <a:solidFill>
                  <a:schemeClr val="dk1"/>
                </a:solidFill>
              </a:rPr>
              <a:t>Roteiro de Atividade Prática.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p325"/>
          <p:cNvSpPr txBox="1">
            <a:spLocks noGrp="1"/>
          </p:cNvSpPr>
          <p:nvPr>
            <p:ph type="body" idx="1"/>
          </p:nvPr>
        </p:nvSpPr>
        <p:spPr>
          <a:xfrm>
            <a:off x="3485673" y="1246697"/>
            <a:ext cx="4478456" cy="331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Até agora, nosso programa já exibe o menu, valida a entrada e chama funções. Mas ele ainda executa apenas uma operação e termina. </a:t>
            </a: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Nesta aula, vamos transformá-lo em um programa que permanece em execução enquanto o usuário desejar.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26" name="Google Shape;3626;p325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3627" name="Google Shape;3627;p325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8" name="Google Shape;3628;p325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3629" name="Google Shape;3629;p325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3630" name="Google Shape;3630;p325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1" name="Google Shape;3631;p325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2" name="Google Shape;3632;p325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3" name="Google Shape;3633;p325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4" name="Google Shape;3634;p325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5" name="Google Shape;3635;p325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6" name="Google Shape;3636;p325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3637" name="Google Shape;3637;p325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8" name="Google Shape;3638;p325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639" name="Google Shape;3639;p325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643" name="Google Shape;3643;p325"/>
          <p:cNvSpPr txBox="1"/>
          <p:nvPr/>
        </p:nvSpPr>
        <p:spPr>
          <a:xfrm>
            <a:off x="8133235" y="4613621"/>
            <a:ext cx="3846937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4" name="Google Shape;3644;p325"/>
          <p:cNvSpPr txBox="1"/>
          <p:nvPr/>
        </p:nvSpPr>
        <p:spPr>
          <a:xfrm>
            <a:off x="3485672" y="5149717"/>
            <a:ext cx="7752301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Para isso, vamos utilizá-lo no contexto da Papelaria Ponto Certo.</a:t>
            </a:r>
            <a:endParaRPr sz="22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45" name="Google Shape;3645;p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794" y="1191674"/>
            <a:ext cx="3640670" cy="342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0" name="Google Shape;3650;p326"/>
          <p:cNvSpPr txBox="1"/>
          <p:nvPr/>
        </p:nvSpPr>
        <p:spPr>
          <a:xfrm>
            <a:off x="3238725" y="29303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1275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Folha da atividade ou caderno.</a:t>
            </a:r>
          </a:p>
          <a:p>
            <a:pPr marL="41275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lápis.</a:t>
            </a:r>
          </a:p>
          <a:p>
            <a:pPr marL="41275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</a:t>
            </a:r>
            <a:r>
              <a:rPr lang="pt-BR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pyhton</a:t>
            </a: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instalado.</a:t>
            </a:r>
          </a:p>
        </p:txBody>
      </p:sp>
      <p:sp>
        <p:nvSpPr>
          <p:cNvPr id="3651" name="Google Shape;3651;p326"/>
          <p:cNvSpPr txBox="1"/>
          <p:nvPr/>
        </p:nvSpPr>
        <p:spPr>
          <a:xfrm>
            <a:off x="7370800" y="2853000"/>
            <a:ext cx="3832500" cy="170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69900" lvl="0" indent="-342900" algn="l" rtl="0">
              <a:spcAft>
                <a:spcPts val="600"/>
              </a:spcAft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Abram o Roteiro de Atividade Prática.</a:t>
            </a:r>
          </a:p>
          <a:p>
            <a:pPr marL="469900" lvl="0" indent="-342900" algn="l" rtl="0">
              <a:spcAft>
                <a:spcPts val="600"/>
              </a:spcAft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Retomem o programa desenvolvido nas aulas anteriores.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600"/>
              </a:spcAft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Implementem a função de cadastro de produtos.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600"/>
              </a:spcAft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Conectem a função à opção 1 do menu e testem o programa.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600"/>
              </a:spcAft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 como repetição, decisão e funções trabalham juntas durante a execução.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3" name="Google Shape;3653;p326"/>
          <p:cNvSpPr txBox="1">
            <a:spLocks noGrp="1"/>
          </p:cNvSpPr>
          <p:nvPr>
            <p:ph type="body" idx="1"/>
          </p:nvPr>
        </p:nvSpPr>
        <p:spPr>
          <a:xfrm>
            <a:off x="2867448" y="347882"/>
            <a:ext cx="8672438" cy="883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Construindo o menu do projeto: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4" name="Google Shape;3654;p326"/>
          <p:cNvSpPr txBox="1">
            <a:spLocks noGrp="1"/>
          </p:cNvSpPr>
          <p:nvPr>
            <p:ph type="body" idx="3"/>
          </p:nvPr>
        </p:nvSpPr>
        <p:spPr>
          <a:xfrm>
            <a:off x="898363" y="4150437"/>
            <a:ext cx="1585800" cy="21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40 minutos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59" name="Google Shape;3659;p32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494" y="4104059"/>
            <a:ext cx="305151" cy="305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0;p35">
            <a:extLst>
              <a:ext uri="{FF2B5EF4-FFF2-40B4-BE49-F238E27FC236}">
                <a16:creationId xmlns:a16="http://schemas.microsoft.com/office/drawing/2014/main" id="{2AD3ECBE-F045-94A4-D190-FCDF013250E0}"/>
              </a:ext>
            </a:extLst>
          </p:cNvPr>
          <p:cNvGrpSpPr/>
          <p:nvPr/>
        </p:nvGrpSpPr>
        <p:grpSpPr>
          <a:xfrm>
            <a:off x="498494" y="4542284"/>
            <a:ext cx="304639" cy="301465"/>
            <a:chOff x="6941066" y="2777637"/>
            <a:chExt cx="456958" cy="452197"/>
          </a:xfrm>
          <a:noFill/>
        </p:grpSpPr>
        <p:grpSp>
          <p:nvGrpSpPr>
            <p:cNvPr id="3" name="Google Shape;491;p35">
              <a:extLst>
                <a:ext uri="{FF2B5EF4-FFF2-40B4-BE49-F238E27FC236}">
                  <a16:creationId xmlns:a16="http://schemas.microsoft.com/office/drawing/2014/main" id="{199B109C-C1BD-54AA-A5F7-6FDF5377CA1B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14" name="Google Shape;492;p35">
                <a:extLst>
                  <a:ext uri="{FF2B5EF4-FFF2-40B4-BE49-F238E27FC236}">
                    <a16:creationId xmlns:a16="http://schemas.microsoft.com/office/drawing/2014/main" id="{7797021B-C179-DE2F-6FEE-758FE3C39009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93;p35">
                <a:extLst>
                  <a:ext uri="{FF2B5EF4-FFF2-40B4-BE49-F238E27FC236}">
                    <a16:creationId xmlns:a16="http://schemas.microsoft.com/office/drawing/2014/main" id="{EDA86405-97B1-F2F1-3C84-5EBFA1F65FA6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" name="Google Shape;494;p35">
              <a:extLst>
                <a:ext uri="{FF2B5EF4-FFF2-40B4-BE49-F238E27FC236}">
                  <a16:creationId xmlns:a16="http://schemas.microsoft.com/office/drawing/2014/main" id="{1F948E3B-B57E-F7A9-385F-4B840ED2F80F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2" name="Google Shape;495;p35">
                <a:extLst>
                  <a:ext uri="{FF2B5EF4-FFF2-40B4-BE49-F238E27FC236}">
                    <a16:creationId xmlns:a16="http://schemas.microsoft.com/office/drawing/2014/main" id="{C70281E5-0572-B727-6AEF-7B4ACB794C75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96;p35">
                <a:extLst>
                  <a:ext uri="{FF2B5EF4-FFF2-40B4-BE49-F238E27FC236}">
                    <a16:creationId xmlns:a16="http://schemas.microsoft.com/office/drawing/2014/main" id="{2D8D4CCD-8B20-B078-1612-F70AB030158B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497;p35">
              <a:extLst>
                <a:ext uri="{FF2B5EF4-FFF2-40B4-BE49-F238E27FC236}">
                  <a16:creationId xmlns:a16="http://schemas.microsoft.com/office/drawing/2014/main" id="{85AB974E-39EB-4D40-64CC-BE4727F21E7F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9" name="Google Shape;498;p35">
                <a:extLst>
                  <a:ext uri="{FF2B5EF4-FFF2-40B4-BE49-F238E27FC236}">
                    <a16:creationId xmlns:a16="http://schemas.microsoft.com/office/drawing/2014/main" id="{CE3132FE-E4E0-0AD1-40AA-C84B9D0BD559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499;p35">
                <a:extLst>
                  <a:ext uri="{FF2B5EF4-FFF2-40B4-BE49-F238E27FC236}">
                    <a16:creationId xmlns:a16="http://schemas.microsoft.com/office/drawing/2014/main" id="{65A7C8A9-06F7-5C59-15E4-208AC01BEFEB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500;p35">
                <a:extLst>
                  <a:ext uri="{FF2B5EF4-FFF2-40B4-BE49-F238E27FC236}">
                    <a16:creationId xmlns:a16="http://schemas.microsoft.com/office/drawing/2014/main" id="{300CA3C2-D2CC-978C-25A3-1A53318E8A63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501;p35">
              <a:extLst>
                <a:ext uri="{FF2B5EF4-FFF2-40B4-BE49-F238E27FC236}">
                  <a16:creationId xmlns:a16="http://schemas.microsoft.com/office/drawing/2014/main" id="{EDF4E9E4-D94F-8E9D-57C6-A9F386FB9419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7" name="Google Shape;502;p35">
                <a:extLst>
                  <a:ext uri="{FF2B5EF4-FFF2-40B4-BE49-F238E27FC236}">
                    <a16:creationId xmlns:a16="http://schemas.microsoft.com/office/drawing/2014/main" id="{3BEB3B7C-8D6E-2E99-CA21-FF9AFEDB93AC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03;p35">
                <a:extLst>
                  <a:ext uri="{FF2B5EF4-FFF2-40B4-BE49-F238E27FC236}">
                    <a16:creationId xmlns:a16="http://schemas.microsoft.com/office/drawing/2014/main" id="{98266620-B2E7-0FDD-BF63-3A5C17116D8C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" name="Espaço Reservado para Texto 60">
            <a:extLst>
              <a:ext uri="{FF2B5EF4-FFF2-40B4-BE49-F238E27FC236}">
                <a16:creationId xmlns:a16="http://schemas.microsoft.com/office/drawing/2014/main" id="{15BE524A-3E4C-D3BE-6C52-0A2675CE331D}"/>
              </a:ext>
            </a:extLst>
          </p:cNvPr>
          <p:cNvSpPr txBox="1">
            <a:spLocks/>
          </p:cNvSpPr>
          <p:nvPr/>
        </p:nvSpPr>
        <p:spPr>
          <a:xfrm>
            <a:off x="898363" y="4582620"/>
            <a:ext cx="1156805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>
                <a:solidFill>
                  <a:schemeClr val="tx1"/>
                </a:solidFill>
              </a:rPr>
              <a:t>Em duplas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p327"/>
          <p:cNvSpPr txBox="1">
            <a:spLocks noGrp="1"/>
          </p:cNvSpPr>
          <p:nvPr>
            <p:ph type="body" idx="1"/>
          </p:nvPr>
        </p:nvSpPr>
        <p:spPr>
          <a:xfrm>
            <a:off x="2984668" y="1172536"/>
            <a:ext cx="6847831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O que garante que o menu de um programa continue sendo exibido até que o usuário escolha encerrar o programa?</a:t>
            </a:r>
            <a:endParaRPr sz="3200" dirty="0"/>
          </a:p>
        </p:txBody>
      </p:sp>
      <p:sp>
        <p:nvSpPr>
          <p:cNvPr id="3672" name="Google Shape;3672;p327"/>
          <p:cNvSpPr/>
          <p:nvPr/>
        </p:nvSpPr>
        <p:spPr>
          <a:xfrm>
            <a:off x="3026388" y="35606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3" name="Google Shape;3673;p327"/>
          <p:cNvSpPr/>
          <p:nvPr/>
        </p:nvSpPr>
        <p:spPr>
          <a:xfrm>
            <a:off x="6738425" y="354740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327"/>
          <p:cNvSpPr/>
          <p:nvPr/>
        </p:nvSpPr>
        <p:spPr>
          <a:xfrm>
            <a:off x="3013506" y="464996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p327"/>
          <p:cNvSpPr/>
          <p:nvPr/>
        </p:nvSpPr>
        <p:spPr>
          <a:xfrm>
            <a:off x="6739928" y="466192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327"/>
          <p:cNvSpPr txBox="1"/>
          <p:nvPr/>
        </p:nvSpPr>
        <p:spPr>
          <a:xfrm>
            <a:off x="2989945" y="4780296"/>
            <a:ext cx="3442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tamanho do texto </a:t>
            </a:r>
            <a:endParaRPr sz="1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exibido na tela.</a:t>
            </a:r>
            <a:endParaRPr sz="18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8" name="Google Shape;3678;p327"/>
          <p:cNvSpPr txBox="1"/>
          <p:nvPr/>
        </p:nvSpPr>
        <p:spPr>
          <a:xfrm>
            <a:off x="3061327" y="3700770"/>
            <a:ext cx="332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número de opções que o menu possui.</a:t>
            </a:r>
            <a:endParaRPr sz="1800" dirty="0"/>
          </a:p>
        </p:txBody>
      </p:sp>
      <p:sp>
        <p:nvSpPr>
          <p:cNvPr id="3679" name="Google Shape;3679;p327"/>
          <p:cNvSpPr txBox="1"/>
          <p:nvPr/>
        </p:nvSpPr>
        <p:spPr>
          <a:xfrm>
            <a:off x="6744447" y="3672107"/>
            <a:ext cx="33890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estrutura de repetição (loop) que envolve o menu.</a:t>
            </a:r>
            <a:endParaRPr sz="1800" dirty="0"/>
          </a:p>
        </p:txBody>
      </p:sp>
      <p:sp>
        <p:nvSpPr>
          <p:cNvPr id="3680" name="Google Shape;3680;p327"/>
          <p:cNvSpPr txBox="1"/>
          <p:nvPr/>
        </p:nvSpPr>
        <p:spPr>
          <a:xfrm>
            <a:off x="6738417" y="4801538"/>
            <a:ext cx="3395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velocidade de digitação do usuário.</a:t>
            </a:r>
            <a:endParaRPr sz="18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D9F782FA-8769-7481-65DB-04EC81C130B0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3869066-1286-48A3-9321-0592ED8E5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E07053C7-C68B-3C30-2F9A-5A87D348952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5" name="Google Shape;3685;p328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328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328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0" name="Google Shape;3690;p328"/>
          <p:cNvSpPr/>
          <p:nvPr/>
        </p:nvSpPr>
        <p:spPr>
          <a:xfrm>
            <a:off x="2437471" y="368581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1" name="Google Shape;3691;p328"/>
          <p:cNvSpPr/>
          <p:nvPr/>
        </p:nvSpPr>
        <p:spPr>
          <a:xfrm>
            <a:off x="2448567" y="4768663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328"/>
          <p:cNvSpPr/>
          <p:nvPr/>
        </p:nvSpPr>
        <p:spPr>
          <a:xfrm>
            <a:off x="10211714" y="477567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3" name="Google Shape;3693;p328"/>
          <p:cNvSpPr/>
          <p:nvPr/>
        </p:nvSpPr>
        <p:spPr>
          <a:xfrm rot="-3044895">
            <a:off x="10281928" y="3753368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5992A338-04FA-8F15-2271-CA002F766B58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6F9BFE4-BA73-7E94-2845-B91BC0A51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2DD4F8DF-2F37-B0F3-FEEE-D5C09EA666C1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3666;p327">
            <a:extLst>
              <a:ext uri="{FF2B5EF4-FFF2-40B4-BE49-F238E27FC236}">
                <a16:creationId xmlns:a16="http://schemas.microsoft.com/office/drawing/2014/main" id="{369B87DA-9610-AFA5-B872-60C6EB009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4668" y="1172536"/>
            <a:ext cx="6847831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O que garante que o menu de um programa continue sendo exibido até que o usuário escolha encerrar o programa?</a:t>
            </a:r>
            <a:endParaRPr sz="3200" dirty="0"/>
          </a:p>
        </p:txBody>
      </p:sp>
      <p:sp>
        <p:nvSpPr>
          <p:cNvPr id="8" name="Google Shape;3672;p327">
            <a:extLst>
              <a:ext uri="{FF2B5EF4-FFF2-40B4-BE49-F238E27FC236}">
                <a16:creationId xmlns:a16="http://schemas.microsoft.com/office/drawing/2014/main" id="{E006499E-54ED-616C-B193-C2C196C1461C}"/>
              </a:ext>
            </a:extLst>
          </p:cNvPr>
          <p:cNvSpPr/>
          <p:nvPr/>
        </p:nvSpPr>
        <p:spPr>
          <a:xfrm>
            <a:off x="3013506" y="3560663"/>
            <a:ext cx="3407960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673;p327">
            <a:extLst>
              <a:ext uri="{FF2B5EF4-FFF2-40B4-BE49-F238E27FC236}">
                <a16:creationId xmlns:a16="http://schemas.microsoft.com/office/drawing/2014/main" id="{4F0211FE-B217-A438-B80A-09E8349B563D}"/>
              </a:ext>
            </a:extLst>
          </p:cNvPr>
          <p:cNvSpPr/>
          <p:nvPr/>
        </p:nvSpPr>
        <p:spPr>
          <a:xfrm>
            <a:off x="6738425" y="354740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74;p327">
            <a:extLst>
              <a:ext uri="{FF2B5EF4-FFF2-40B4-BE49-F238E27FC236}">
                <a16:creationId xmlns:a16="http://schemas.microsoft.com/office/drawing/2014/main" id="{710D6BA8-57EF-FC7E-2437-AE88A20F9719}"/>
              </a:ext>
            </a:extLst>
          </p:cNvPr>
          <p:cNvSpPr/>
          <p:nvPr/>
        </p:nvSpPr>
        <p:spPr>
          <a:xfrm>
            <a:off x="3013506" y="464996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675;p327">
            <a:extLst>
              <a:ext uri="{FF2B5EF4-FFF2-40B4-BE49-F238E27FC236}">
                <a16:creationId xmlns:a16="http://schemas.microsoft.com/office/drawing/2014/main" id="{F4C22BF3-5100-F353-07E0-AAE33E31BCC8}"/>
              </a:ext>
            </a:extLst>
          </p:cNvPr>
          <p:cNvSpPr/>
          <p:nvPr/>
        </p:nvSpPr>
        <p:spPr>
          <a:xfrm>
            <a:off x="6739928" y="466192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677;p327">
            <a:extLst>
              <a:ext uri="{FF2B5EF4-FFF2-40B4-BE49-F238E27FC236}">
                <a16:creationId xmlns:a16="http://schemas.microsoft.com/office/drawing/2014/main" id="{190B9A3A-54F8-F484-CC7A-39D39018EEE9}"/>
              </a:ext>
            </a:extLst>
          </p:cNvPr>
          <p:cNvSpPr txBox="1"/>
          <p:nvPr/>
        </p:nvSpPr>
        <p:spPr>
          <a:xfrm>
            <a:off x="2989945" y="4780296"/>
            <a:ext cx="3442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tamanho do texto </a:t>
            </a:r>
            <a:endParaRPr sz="1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exibido na tela.</a:t>
            </a:r>
            <a:endParaRPr sz="18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3678;p327">
            <a:extLst>
              <a:ext uri="{FF2B5EF4-FFF2-40B4-BE49-F238E27FC236}">
                <a16:creationId xmlns:a16="http://schemas.microsoft.com/office/drawing/2014/main" id="{90AA9364-023E-3202-A828-1F1F85EDDA7A}"/>
              </a:ext>
            </a:extLst>
          </p:cNvPr>
          <p:cNvSpPr txBox="1"/>
          <p:nvPr/>
        </p:nvSpPr>
        <p:spPr>
          <a:xfrm>
            <a:off x="3061327" y="3700770"/>
            <a:ext cx="3325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número de opções que o menu possui.</a:t>
            </a:r>
            <a:endParaRPr sz="1800" dirty="0"/>
          </a:p>
        </p:txBody>
      </p:sp>
      <p:sp>
        <p:nvSpPr>
          <p:cNvPr id="14" name="Google Shape;3679;p327">
            <a:extLst>
              <a:ext uri="{FF2B5EF4-FFF2-40B4-BE49-F238E27FC236}">
                <a16:creationId xmlns:a16="http://schemas.microsoft.com/office/drawing/2014/main" id="{E69F1E93-079B-1107-D8ED-1338555CB2B1}"/>
              </a:ext>
            </a:extLst>
          </p:cNvPr>
          <p:cNvSpPr txBox="1"/>
          <p:nvPr/>
        </p:nvSpPr>
        <p:spPr>
          <a:xfrm>
            <a:off x="6744447" y="3672107"/>
            <a:ext cx="33890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estrutura de repetição (loop) que envolve o menu.</a:t>
            </a:r>
            <a:endParaRPr sz="1800" dirty="0"/>
          </a:p>
        </p:txBody>
      </p:sp>
      <p:sp>
        <p:nvSpPr>
          <p:cNvPr id="15" name="Google Shape;3680;p327">
            <a:extLst>
              <a:ext uri="{FF2B5EF4-FFF2-40B4-BE49-F238E27FC236}">
                <a16:creationId xmlns:a16="http://schemas.microsoft.com/office/drawing/2014/main" id="{2BD05902-02C5-1EE4-4962-F9BCAE165F20}"/>
              </a:ext>
            </a:extLst>
          </p:cNvPr>
          <p:cNvSpPr txBox="1"/>
          <p:nvPr/>
        </p:nvSpPr>
        <p:spPr>
          <a:xfrm>
            <a:off x="6738417" y="4801538"/>
            <a:ext cx="3395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velocidade de digitação do usuário.</a:t>
            </a:r>
            <a:endParaRPr sz="18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8" name="Google Shape;3708;p329" title="diagrama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303073"/>
            <a:ext cx="5420576" cy="60032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14996BD-6C54-9059-840B-FBFF3F030386}"/>
              </a:ext>
            </a:extLst>
          </p:cNvPr>
          <p:cNvSpPr txBox="1"/>
          <p:nvPr/>
        </p:nvSpPr>
        <p:spPr>
          <a:xfrm>
            <a:off x="5648325" y="638978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Produzido pela SEDUC-SP com apoio da ferramenta ChatGPT.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330"/>
          <p:cNvSpPr txBox="1">
            <a:spLocks noGrp="1"/>
          </p:cNvSpPr>
          <p:nvPr>
            <p:ph type="body" idx="1"/>
          </p:nvPr>
        </p:nvSpPr>
        <p:spPr>
          <a:xfrm>
            <a:off x="5560950" y="1502651"/>
            <a:ext cx="5945250" cy="273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Como criar um menu interativo no terminal com Python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Veja um exemplo completo de menu em terminal e observe como estruturas de repetição, decisão e funções trabalham juntas para controlar o fluxo do programa.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ACADEMIFY. Como criar um menu interativo no terminal com Python. Disponível em: </a:t>
            </a:r>
            <a:r>
              <a:rPr lang="pt-BR" sz="1800" dirty="0">
                <a:hlinkClick r:id="rId3"/>
              </a:rPr>
              <a:t>https://academify.com.br/criar-menu-interativo-terminal-</a:t>
            </a:r>
            <a:r>
              <a:rPr lang="pt-BR" sz="1800" dirty="0" err="1">
                <a:hlinkClick r:id="rId3"/>
              </a:rPr>
              <a:t>python</a:t>
            </a:r>
            <a:r>
              <a:rPr lang="pt-BR" sz="1800" dirty="0">
                <a:hlinkClick r:id="rId3"/>
              </a:rPr>
              <a:t>/</a:t>
            </a:r>
            <a:r>
              <a:rPr lang="pt-BR" sz="1800" dirty="0"/>
              <a:t>. Acesso em: 17 ago. 2026.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714" name="Google Shape;3714;p330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p331"/>
          <p:cNvSpPr txBox="1">
            <a:spLocks noGrp="1"/>
          </p:cNvSpPr>
          <p:nvPr>
            <p:ph type="body" idx="1"/>
          </p:nvPr>
        </p:nvSpPr>
        <p:spPr>
          <a:xfrm>
            <a:off x="555150" y="1568450"/>
            <a:ext cx="11484450" cy="274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PROGRAMIZ. Python </a:t>
            </a:r>
            <a:r>
              <a:rPr lang="pt-BR" dirty="0" err="1"/>
              <a:t>while</a:t>
            </a:r>
            <a:r>
              <a:rPr lang="pt-BR" dirty="0"/>
              <a:t> Loop [</a:t>
            </a:r>
            <a:r>
              <a:rPr lang="pt-BR" dirty="0" err="1"/>
              <a:t>S.l</a:t>
            </a:r>
            <a:r>
              <a:rPr lang="pt-BR" dirty="0"/>
              <a:t>.: S.n.].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https://www.programiz.com/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python-programming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while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-loop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4. Mais ferramentas de controle de fluxo. Documentação Python 3,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[s.d.].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/3/tutorial/controlflow.html</a:t>
            </a:r>
            <a:r>
              <a:rPr lang="pt-BR" dirty="0"/>
              <a:t>. Acesso em: 17 ago. 2026.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UNIVALI. </a:t>
            </a:r>
            <a:r>
              <a:rPr lang="pt-BR" dirty="0" err="1"/>
              <a:t>Portugol</a:t>
            </a:r>
            <a:r>
              <a:rPr lang="pt-BR" dirty="0"/>
              <a:t> Studio: Ambiente de Programação didático para a linguagem </a:t>
            </a:r>
            <a:r>
              <a:rPr lang="pt-BR" dirty="0" err="1"/>
              <a:t>Portugol</a:t>
            </a:r>
            <a:r>
              <a:rPr lang="pt-BR" dirty="0"/>
              <a:t> 2.0. Laboratório de Inovação Tecnológica na Educação (LITE), [s.d.].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https://univali-lite.github.io/</a:t>
            </a:r>
            <a:r>
              <a:rPr lang="pt-BR" u="sng" dirty="0" err="1">
                <a:solidFill>
                  <a:schemeClr val="hlink"/>
                </a:solidFill>
                <a:hlinkClick r:id="rId5"/>
              </a:rPr>
              <a:t>Portugol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-Studio/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W3SCHOOLS. Python </a:t>
            </a:r>
            <a:r>
              <a:rPr lang="pt-BR" dirty="0" err="1"/>
              <a:t>While</a:t>
            </a:r>
            <a:r>
              <a:rPr lang="pt-BR" dirty="0"/>
              <a:t> Loopswww.w3schools.com. [</a:t>
            </a:r>
            <a:r>
              <a:rPr lang="pt-BR" dirty="0" err="1"/>
              <a:t>S.l</a:t>
            </a:r>
            <a:r>
              <a:rPr lang="pt-BR" dirty="0"/>
              <a:t>.: S.n.]. Disponível em: </a:t>
            </a:r>
            <a:r>
              <a:rPr lang="pt-BR" u="sng" dirty="0">
                <a:solidFill>
                  <a:schemeClr val="hlink"/>
                </a:solidFill>
                <a:hlinkClick r:id="rId6"/>
              </a:rPr>
              <a:t>https://www.w3schools.com/</a:t>
            </a:r>
            <a:r>
              <a:rPr lang="pt-BR" u="sng" dirty="0" err="1">
                <a:solidFill>
                  <a:schemeClr val="hlink"/>
                </a:solidFill>
                <a:hlinkClick r:id="rId6"/>
              </a:rPr>
              <a:t>python</a:t>
            </a:r>
            <a:r>
              <a:rPr lang="pt-BR" u="sng" dirty="0">
                <a:solidFill>
                  <a:schemeClr val="hlink"/>
                </a:solidFill>
                <a:hlinkClick r:id="rId6"/>
              </a:rPr>
              <a:t>/python_while_loops.asp</a:t>
            </a:r>
            <a:r>
              <a:rPr lang="pt-BR" dirty="0"/>
              <a:t>. Acesso em: 17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3720" name="Google Shape;3720;p331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1" name="Google Shape;3731;p333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333"/>
          <p:cNvSpPr txBox="1"/>
          <p:nvPr/>
        </p:nvSpPr>
        <p:spPr>
          <a:xfrm>
            <a:off x="985519" y="803660"/>
            <a:ext cx="7869000" cy="47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733" name="Google Shape;3733;p333"/>
          <p:cNvSpPr txBox="1"/>
          <p:nvPr/>
        </p:nvSpPr>
        <p:spPr>
          <a:xfrm>
            <a:off x="985519" y="1372059"/>
            <a:ext cx="11006455" cy="252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etome rapidamente o programa desenvolvido nas aulas anteriores e destaque que ele já exibe o menu, recebe a opção do usuário, valida a entrada e organiza o código em funções. Explique que, nesta aula, os estudantes ampliarão esse mesmo programa, implementando a primeira funcionalidade real no contexto da Papelaria Ponto Certo.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projete o programa construído anteriormente e incentive os estudantes a identificar quais partes já estão prontas e o que precisará ser acrescentado. Garanta que todos iniciem a atividade utilizando a mesma versão do código.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contexto da Papelaria Ponto Certo e pergunte à turma quais elementos do programa desenvolvido até agora poderão ser reaproveitados. Após ouvir algumas respostas, destaque que a estrutura do menu permanecerá a mesma e que a nova funcionalidade será integrada sem reescrever o programa.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spera-se que os estudantes reconheçam que o menu, as funções já existentes, a validação da entrada e a estrutura de repetição podem ser reutilizados. Também é esperado que identifiquem a necessidade de criar apenas a função responsável pelo cadastro de produtos e conectá-la ao menu.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34" name="Google Shape;3734;p333"/>
          <p:cNvCxnSpPr>
            <a:cxnSpLocks/>
          </p:cNvCxnSpPr>
          <p:nvPr/>
        </p:nvCxnSpPr>
        <p:spPr>
          <a:xfrm rot="10800000">
            <a:off x="687741" y="1017843"/>
            <a:ext cx="1200" cy="311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736" name="Google Shape;3736;p333"/>
          <p:cNvGrpSpPr/>
          <p:nvPr/>
        </p:nvGrpSpPr>
        <p:grpSpPr>
          <a:xfrm>
            <a:off x="495291" y="1318604"/>
            <a:ext cx="386100" cy="382500"/>
            <a:chOff x="497841" y="1318604"/>
            <a:chExt cx="386100" cy="382500"/>
          </a:xfrm>
        </p:grpSpPr>
        <p:sp>
          <p:nvSpPr>
            <p:cNvPr id="3737" name="Google Shape;3737;p333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333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9" name="Google Shape;3739;p333"/>
          <p:cNvGrpSpPr/>
          <p:nvPr/>
        </p:nvGrpSpPr>
        <p:grpSpPr>
          <a:xfrm>
            <a:off x="495291" y="2397924"/>
            <a:ext cx="386100" cy="382500"/>
            <a:chOff x="497841" y="2265726"/>
            <a:chExt cx="386100" cy="382500"/>
          </a:xfrm>
        </p:grpSpPr>
        <p:sp>
          <p:nvSpPr>
            <p:cNvPr id="3740" name="Google Shape;3740;p333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333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2" name="Google Shape;3742;p333"/>
          <p:cNvGrpSpPr/>
          <p:nvPr/>
        </p:nvGrpSpPr>
        <p:grpSpPr>
          <a:xfrm>
            <a:off x="495291" y="3522872"/>
            <a:ext cx="386100" cy="382500"/>
            <a:chOff x="497841" y="3801694"/>
            <a:chExt cx="386100" cy="382500"/>
          </a:xfrm>
        </p:grpSpPr>
        <p:sp>
          <p:nvSpPr>
            <p:cNvPr id="3743" name="Google Shape;3743;p333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35" name="Google Shape;3735;p33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4" name="Google Shape;3744;p333"/>
          <p:cNvGrpSpPr/>
          <p:nvPr/>
        </p:nvGrpSpPr>
        <p:grpSpPr>
          <a:xfrm>
            <a:off x="495291" y="1886898"/>
            <a:ext cx="386100" cy="382500"/>
            <a:chOff x="497841" y="1802325"/>
            <a:chExt cx="386100" cy="382500"/>
          </a:xfrm>
        </p:grpSpPr>
        <p:sp>
          <p:nvSpPr>
            <p:cNvPr id="3745" name="Google Shape;3745;p333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46" name="Google Shape;3746;p3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7" name="Google Shape;3747;p333"/>
          <p:cNvGrpSpPr/>
          <p:nvPr/>
        </p:nvGrpSpPr>
        <p:grpSpPr>
          <a:xfrm>
            <a:off x="495291" y="2917531"/>
            <a:ext cx="386100" cy="382500"/>
            <a:chOff x="497841" y="3037886"/>
            <a:chExt cx="386100" cy="382500"/>
          </a:xfrm>
        </p:grpSpPr>
        <p:sp>
          <p:nvSpPr>
            <p:cNvPr id="3748" name="Google Shape;3748;p333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49" name="Google Shape;3749;p333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33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6" name="Google Shape;3756;p334"/>
          <p:cNvSpPr txBox="1"/>
          <p:nvPr/>
        </p:nvSpPr>
        <p:spPr>
          <a:xfrm>
            <a:off x="985520" y="785592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7</a:t>
            </a:r>
            <a:endParaRPr dirty="0"/>
          </a:p>
        </p:txBody>
      </p:sp>
      <p:sp>
        <p:nvSpPr>
          <p:cNvPr id="3757" name="Google Shape;3757;p334"/>
          <p:cNvSpPr txBox="1"/>
          <p:nvPr/>
        </p:nvSpPr>
        <p:spPr>
          <a:xfrm>
            <a:off x="985520" y="1372059"/>
            <a:ext cx="10251300" cy="267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tilize o Roteiro de Atividade Prática para conduzir o desenvolvimento do programa. Oriente os estudantes a ampliarem o código construído nas aulas anteriores, implementando a função de cadastro e integrando-a ao menu principal. Incentive a execução do programa após cada etapa para verificar seu funcionamento.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40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acompanhe o andamento da atividade, certificando-se de que todos os estudantes utilizem o programa desenvolvido anteriormente como ponto de partida. Incentive a programação em pares quando necessário e estimule os grupos a testar diferentes entradas antes de solicitar ajuda.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siga a sequência proposta no roteiro de atividade prática, conduzindo a implementação da função de cadastro, sua integração ao menu e a realização dos testes previstos. Durante a atividade, circule pela sala para apoiar os estudantes, esclarecendo dúvidas e incentivando a análise dos resultados obtidos em cada teste.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 :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espera-se que os estudantes implementem corretamente a função de cadastro, conectem-na à opção correspondente do menu e verifiquem seu funcionamento por meio dos testes propostos. Ao final da atividade, devem reconhecer como repetição, estruturas de decisão e funções trabalham juntas para manter o fluxo do programa organizado e permitir a ampliação do sistema com novas funcionalidades.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58" name="Google Shape;3758;p334"/>
          <p:cNvCxnSpPr>
            <a:cxnSpLocks/>
          </p:cNvCxnSpPr>
          <p:nvPr/>
        </p:nvCxnSpPr>
        <p:spPr>
          <a:xfrm flipV="1">
            <a:off x="688341" y="951168"/>
            <a:ext cx="0" cy="354463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760" name="Google Shape;3760;p334"/>
          <p:cNvGrpSpPr/>
          <p:nvPr/>
        </p:nvGrpSpPr>
        <p:grpSpPr>
          <a:xfrm>
            <a:off x="495291" y="1318604"/>
            <a:ext cx="386100" cy="382500"/>
            <a:chOff x="497841" y="1318604"/>
            <a:chExt cx="386100" cy="382500"/>
          </a:xfrm>
        </p:grpSpPr>
        <p:sp>
          <p:nvSpPr>
            <p:cNvPr id="3761" name="Google Shape;3761;p334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334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3" name="Google Shape;3763;p334"/>
          <p:cNvGrpSpPr/>
          <p:nvPr/>
        </p:nvGrpSpPr>
        <p:grpSpPr>
          <a:xfrm>
            <a:off x="495291" y="2379904"/>
            <a:ext cx="386100" cy="382500"/>
            <a:chOff x="497841" y="2265726"/>
            <a:chExt cx="386100" cy="382500"/>
          </a:xfrm>
        </p:grpSpPr>
        <p:sp>
          <p:nvSpPr>
            <p:cNvPr id="3764" name="Google Shape;3764;p334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334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6" name="Google Shape;3766;p334"/>
          <p:cNvGrpSpPr/>
          <p:nvPr/>
        </p:nvGrpSpPr>
        <p:grpSpPr>
          <a:xfrm>
            <a:off x="495291" y="3509661"/>
            <a:ext cx="386100" cy="382500"/>
            <a:chOff x="497841" y="3801694"/>
            <a:chExt cx="386100" cy="382500"/>
          </a:xfrm>
        </p:grpSpPr>
        <p:sp>
          <p:nvSpPr>
            <p:cNvPr id="3767" name="Google Shape;3767;p33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59" name="Google Shape;3759;p33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8" name="Google Shape;3768;p334"/>
          <p:cNvGrpSpPr/>
          <p:nvPr/>
        </p:nvGrpSpPr>
        <p:grpSpPr>
          <a:xfrm>
            <a:off x="495291" y="1868878"/>
            <a:ext cx="386100" cy="382500"/>
            <a:chOff x="497841" y="1802325"/>
            <a:chExt cx="386100" cy="382500"/>
          </a:xfrm>
        </p:grpSpPr>
        <p:sp>
          <p:nvSpPr>
            <p:cNvPr id="3769" name="Google Shape;3769;p334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70" name="Google Shape;3770;p3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1" name="Google Shape;3771;p334"/>
          <p:cNvGrpSpPr/>
          <p:nvPr/>
        </p:nvGrpSpPr>
        <p:grpSpPr>
          <a:xfrm>
            <a:off x="495291" y="2905844"/>
            <a:ext cx="386100" cy="382500"/>
            <a:chOff x="497841" y="3037886"/>
            <a:chExt cx="386100" cy="382500"/>
          </a:xfrm>
        </p:grpSpPr>
        <p:sp>
          <p:nvSpPr>
            <p:cNvPr id="3772" name="Google Shape;3772;p334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73" name="Google Shape;3773;p334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p33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335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8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9</a:t>
            </a:r>
            <a:endParaRPr dirty="0"/>
          </a:p>
        </p:txBody>
      </p:sp>
      <p:cxnSp>
        <p:nvCxnSpPr>
          <p:cNvPr id="3781" name="Google Shape;3781;p335"/>
          <p:cNvCxnSpPr>
            <a:cxnSpLocks/>
          </p:cNvCxnSpPr>
          <p:nvPr/>
        </p:nvCxnSpPr>
        <p:spPr>
          <a:xfrm flipV="1">
            <a:off x="690895" y="1036115"/>
            <a:ext cx="0" cy="192616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784" name="Google Shape;3784;p335"/>
          <p:cNvSpPr/>
          <p:nvPr/>
        </p:nvSpPr>
        <p:spPr>
          <a:xfrm>
            <a:off x="497841" y="1813385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335"/>
          <p:cNvSpPr txBox="1"/>
          <p:nvPr/>
        </p:nvSpPr>
        <p:spPr>
          <a:xfrm>
            <a:off x="985524" y="1432475"/>
            <a:ext cx="9944400" cy="129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 objetivo da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Pause e responda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é mobilizar os estudantes em relação aos conhecimentos apresentados e construídos em aula. É uma atividade de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lternativa correta: “A estrutura de repetição (loop) que envolve o menu.”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: a estrutura de repetição mantém o menu em execução até que o usuário escolha a opção de saída.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87" name="Google Shape;3787;p3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07091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8" name="Google Shape;3788;p335"/>
          <p:cNvGrpSpPr/>
          <p:nvPr/>
        </p:nvGrpSpPr>
        <p:grpSpPr>
          <a:xfrm>
            <a:off x="497841" y="2306269"/>
            <a:ext cx="386100" cy="382500"/>
            <a:chOff x="497841" y="3801694"/>
            <a:chExt cx="386100" cy="382500"/>
          </a:xfrm>
        </p:grpSpPr>
        <p:sp>
          <p:nvSpPr>
            <p:cNvPr id="3789" name="Google Shape;3789;p33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82" name="Google Shape;3782;p33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oogle Shape;3580;p335">
            <a:extLst>
              <a:ext uri="{FF2B5EF4-FFF2-40B4-BE49-F238E27FC236}">
                <a16:creationId xmlns:a16="http://schemas.microsoft.com/office/drawing/2014/main" id="{4A8E57F6-908B-2C8C-2647-587480284F90}"/>
              </a:ext>
            </a:extLst>
          </p:cNvPr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3" name="Google Shape;3581;p335">
              <a:extLst>
                <a:ext uri="{FF2B5EF4-FFF2-40B4-BE49-F238E27FC236}">
                  <a16:creationId xmlns:a16="http://schemas.microsoft.com/office/drawing/2014/main" id="{22F8A422-5975-3511-A3BF-0F40B3CB802C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582;p335">
              <a:extLst>
                <a:ext uri="{FF2B5EF4-FFF2-40B4-BE49-F238E27FC236}">
                  <a16:creationId xmlns:a16="http://schemas.microsoft.com/office/drawing/2014/main" id="{C722B4CA-C173-1D32-2172-21832FB3452A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33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6" name="Google Shape;3796;p336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10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7" name="Google Shape;3797;p336"/>
          <p:cNvSpPr txBox="1"/>
          <p:nvPr/>
        </p:nvSpPr>
        <p:spPr>
          <a:xfrm>
            <a:off x="985519" y="1352395"/>
            <a:ext cx="10783800" cy="313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gaje os estudantes rapidamente, pedindo confirmações ou reações breves às definições apresentadas.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estudantes devem sair da aula com um entendimento claro e preciso dos conceitos principais.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98" name="Google Shape;3798;p336"/>
          <p:cNvCxnSpPr>
            <a:cxnSpLocks/>
          </p:cNvCxnSpPr>
          <p:nvPr/>
        </p:nvCxnSpPr>
        <p:spPr>
          <a:xfrm flipV="1">
            <a:off x="685795" y="868640"/>
            <a:ext cx="0" cy="362306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800" name="Google Shape;3800;p336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801" name="Google Shape;3801;p336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336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3" name="Google Shape;3803;p336"/>
          <p:cNvGrpSpPr/>
          <p:nvPr/>
        </p:nvGrpSpPr>
        <p:grpSpPr>
          <a:xfrm>
            <a:off x="497841" y="2205743"/>
            <a:ext cx="386100" cy="382500"/>
            <a:chOff x="497841" y="2265726"/>
            <a:chExt cx="386100" cy="382500"/>
          </a:xfrm>
        </p:grpSpPr>
        <p:sp>
          <p:nvSpPr>
            <p:cNvPr id="3804" name="Google Shape;3804;p336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336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6" name="Google Shape;3806;p336"/>
          <p:cNvGrpSpPr/>
          <p:nvPr/>
        </p:nvGrpSpPr>
        <p:grpSpPr>
          <a:xfrm>
            <a:off x="497841" y="2999786"/>
            <a:ext cx="386100" cy="382500"/>
            <a:chOff x="497841" y="3037886"/>
            <a:chExt cx="386100" cy="382500"/>
          </a:xfrm>
        </p:grpSpPr>
        <p:sp>
          <p:nvSpPr>
            <p:cNvPr id="3807" name="Google Shape;3807;p336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8" name="Google Shape;3808;p336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9" name="Google Shape;3809;p336"/>
          <p:cNvGrpSpPr/>
          <p:nvPr/>
        </p:nvGrpSpPr>
        <p:grpSpPr>
          <a:xfrm>
            <a:off x="497841" y="3849319"/>
            <a:ext cx="386100" cy="382500"/>
            <a:chOff x="497841" y="3801694"/>
            <a:chExt cx="386100" cy="382500"/>
          </a:xfrm>
        </p:grpSpPr>
        <p:sp>
          <p:nvSpPr>
            <p:cNvPr id="3810" name="Google Shape;3810;p33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99" name="Google Shape;3799;p33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11" name="Google Shape;3811;p336"/>
          <p:cNvGrpSpPr/>
          <p:nvPr/>
        </p:nvGrpSpPr>
        <p:grpSpPr>
          <a:xfrm>
            <a:off x="497841" y="1707075"/>
            <a:ext cx="386100" cy="382500"/>
            <a:chOff x="497841" y="1802325"/>
            <a:chExt cx="386100" cy="382500"/>
          </a:xfrm>
        </p:grpSpPr>
        <p:sp>
          <p:nvSpPr>
            <p:cNvPr id="3812" name="Google Shape;3812;p336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13" name="Google Shape;3813;p33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4" name="Google Shape;3814;p336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5" name="Google Shape;3815;p336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11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6" name="Google Shape;3816;p336"/>
          <p:cNvCxnSpPr>
            <a:cxnSpLocks/>
          </p:cNvCxnSpPr>
          <p:nvPr/>
        </p:nvCxnSpPr>
        <p:spPr>
          <a:xfrm flipV="1">
            <a:off x="690876" y="4998614"/>
            <a:ext cx="0" cy="152601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18" name="Google Shape;3818;p336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9" name="Google Shape;3819;p336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336"/>
          <p:cNvSpPr txBox="1"/>
          <p:nvPr/>
        </p:nvSpPr>
        <p:spPr>
          <a:xfrm>
            <a:off x="985525" y="5314800"/>
            <a:ext cx="8988300" cy="9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7" name="Google Shape;3817;p336"/>
          <p:cNvSpPr/>
          <p:nvPr/>
        </p:nvSpPr>
        <p:spPr>
          <a:xfrm>
            <a:off x="495426" y="583876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1" name="Google Shape;3821;p3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932470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1472</Words>
  <Application>Microsoft Office PowerPoint</Application>
  <PresentationFormat>Ecrã Panorâmico</PresentationFormat>
  <Paragraphs>136</Paragraphs>
  <Slides>18</Slides>
  <Notes>18</Notes>
  <HiddenSlides>6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18</vt:i4>
      </vt:variant>
    </vt:vector>
  </HeadingPairs>
  <TitlesOfParts>
    <vt:vector size="26" baseType="lpstr">
      <vt:lpstr>Calibri</vt:lpstr>
      <vt:lpstr>Poppins Light</vt:lpstr>
      <vt:lpstr>Poppins</vt:lpstr>
      <vt:lpstr>Poppins Medium</vt:lpstr>
      <vt:lpstr>Arial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Manuela Buk de Araujo</dc:creator>
  <cp:lastModifiedBy>Gustavo Henrique da Silva Oliveira</cp:lastModifiedBy>
  <cp:revision>24</cp:revision>
  <dcterms:modified xsi:type="dcterms:W3CDTF">2026-08-24T12:55:58Z</dcterms:modified>
</cp:coreProperties>
</file>