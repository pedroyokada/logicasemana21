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2.xml" ContentType="application/vnd.openxmlformats-officedocument.theme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theme/theme3.xml" ContentType="application/vnd.openxmlformats-officedocument.theme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09" r:id="rId3"/>
    <p:sldMasterId id="2147483910" r:id="rId4"/>
  </p:sldMasterIdLst>
  <p:notesMasterIdLst>
    <p:notesMasterId r:id="rId35"/>
  </p:notesMasterIdLst>
  <p:sldIdLst>
    <p:sldId id="282" r:id="rId5"/>
    <p:sldId id="283" r:id="rId6"/>
    <p:sldId id="350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</p:sldIdLst>
  <p:sldSz cx="12192000" cy="6858000"/>
  <p:notesSz cx="6858000" cy="9144000"/>
  <p:embeddedFontLst>
    <p:embeddedFont>
      <p:font typeface="Poppins" panose="00000500000000000000" pitchFamily="2" charset="0"/>
      <p:regular r:id="rId36"/>
      <p:bold r:id="rId37"/>
      <p:italic r:id="rId38"/>
      <p:boldItalic r:id="rId39"/>
    </p:embeddedFont>
    <p:embeddedFont>
      <p:font typeface="Poppins Light" panose="00000400000000000000" pitchFamily="2" charset="0"/>
      <p:regular r:id="rId40"/>
      <p:bold r:id="rId41"/>
      <p:italic r:id="rId42"/>
      <p:boldItalic r:id="rId43"/>
    </p:embeddedFont>
    <p:embeddedFont>
      <p:font typeface="Poppins Medium" panose="000006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2" id="{6C088368-60CE-45F0-82F7-69CABB8A9AA3}">
          <p14:sldIdLst>
            <p14:sldId id="282"/>
            <p14:sldId id="283"/>
            <p14:sldId id="350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B7B953-1DF4-8E25-2FD7-461A6661F625}" name="user" initials="u" userId="user" providerId="None"/>
  <p188:author id="{5AA0A968-BEAC-3578-99DE-8E24331D5246}" name="Yasmin Aquino" initials="YA" userId="S::yasmin.aquino@vanzolini-ead.org.br::762970ba-864f-4cc2-a808-be1e8c01dea3" providerId="AD"/>
  <p188:author id="{377AEB95-F34C-FEB2-A03E-D3DA85656470}" name="Izabella Saadi Cerutti" initials="IS" userId="4295702eb40843b9" providerId="Windows Live"/>
  <p188:author id="{4BD3CBB0-6750-1FDD-67D3-2ACB669506AF}" name="Soraia Novaes" initials="SN" userId="S::soraia.novaes@apoiofde.sp.gov.br::f517fece-32b1-4449-a5a1-33836cdfbea7" providerId="AD"/>
  <p188:author id="{323E71DD-2DD6-0498-FA2F-F91E6C9039EE}" name="Manuela Buk de Araujo" initials="MB" userId="0af21dece6336a9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Google Shape;31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4" name="Google Shape;310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105" name="Google Shape;3105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g3f62be24d6d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9" name="Google Shape;3109;g3f62be24d6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8" name="Google Shape;2728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9" name="Google Shape;2729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2684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g3f62be24d6d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7" name="Google Shape;3167;g3f62be24d6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g3f62be24d6d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6" name="Google Shape;3186;g3f62be24d6d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g3f62be24d6d_0_4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5" name="Google Shape;3195;g3f62be24d6d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" name="Google Shape;3219;g3f68a4ec358_0_19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0" name="Google Shape;3220;g3f68a4ec358_0_1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g3f62be24d6d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2" name="Google Shape;3232;g3f62be24d6d_0_4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3" name="Google Shape;3233;g3f62be24d6d_0_4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3f62be24d6d_0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6" name="Google Shape;3246;g3f62be24d6d_0_7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7" name="Google Shape;3247;g3f62be24d6d_0_7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2" name="Google Shape;3252;g3f68a4ec358_0_2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3" name="Google Shape;3253;g3f68a4ec358_0_20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4" name="Google Shape;3254;g3f68a4ec358_0_20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g3f62be24d6d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2" name="Google Shape;3262;g3f62be24d6d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3" name="Google Shape;3263;g3f62be24d6d_0_7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g3f64802940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2" name="Google Shape;3272;g3f64802940c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3" name="Google Shape;3273;g3f64802940c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" name="Google Shape;3280;g3f62be24d6d_0_8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1" name="Google Shape;3281;g3f62be24d6d_0_8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2" name="Google Shape;3282;g3f62be24d6d_0_8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g3f64802940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4" name="Google Shape;3294;g3f64802940c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5" name="Google Shape;3295;g3f64802940c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3302;g3f62be24d6d_0_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3" name="Google Shape;3303;g3f62be24d6d_0_8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4" name="Google Shape;3304;g3f62be24d6d_0_8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0" name="Google Shape;3310;g3f62be24d6d_0_5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1" name="Google Shape;3311;g3f62be24d6d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g3f62be24d6d_0_5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0" name="Google Shape;3330;g3f62be24d6d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2" name="Google Shape;3352;g3f68a4ec358_0_20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3" name="Google Shape;3353;g3f68a4ec358_0_20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1" name="Google Shape;3371;g3f68a4ec358_0_20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2" name="Google Shape;3372;g3f68a4ec358_0_2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" name="Google Shape;3383;g3f62be24d6d_0_6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4" name="Google Shape;3384;g3f62be24d6d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g3f62be24d6d_0_6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391" name="Google Shape;3391;g3f62be24d6d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5" name="Google Shape;3395;g3f62be24d6d_0_6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6" name="Google Shape;3396;g3f62be24d6d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g3f62be24d6d_0_6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2" name="Google Shape;3402;g3f62be24d6d_0_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7" name="Google Shape;3407;g3f62be24d6d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8" name="Google Shape;3408;g3f62be24d6d_0_6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409" name="Google Shape;3409;g3f62be24d6d_0_6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g3f62be24d6d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3" name="Google Shape;3413;g3f62be24d6d_0_6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414" name="Google Shape;3414;g3f62be24d6d_0_6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g3f62be24d6d_0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4" name="Google Shape;3434;g3f62be24d6d_0_6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435" name="Google Shape;3435;g3f62be24d6d_0_6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3f62be24d6d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5" name="Google Shape;3455;g3f62be24d6d_0_6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456" name="Google Shape;3456;g3f62be24d6d_0_6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0" name="Google Shape;3470;g3f62be24d6d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1" name="Google Shape;3471;g3f62be24d6d_0_6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472" name="Google Shape;3472;g3f62be24d6d_0_6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g3f62be24d6d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5" name="Google Shape;3495;g3f62be24d6d_0_7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496" name="Google Shape;3496;g3f62be24d6d_0_7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Google Shape;352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7" name="Google Shape;352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528" name="Google Shape;3528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6.png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9.png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28809" y="885957"/>
            <a:ext cx="408409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957148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0757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386992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9467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500759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166078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5766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6558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7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52" name="Google Shape;952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5" name="Google Shape;955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0" name="Google Shape;960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5" name="Google Shape;965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6" name="Google Shape;966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8" name="Google Shape;968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4" name="Google Shape;974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8" name="Google Shape;978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9" name="Google Shape;979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3" name="Google Shape;983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4" name="Google Shape;984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9" name="Google Shape;989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3" name="Google Shape;993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4" name="Google Shape;994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8" name="Google Shape;998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9" name="Google Shape;999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002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4" name="Google Shape;1004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8" name="Google Shape;1008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9" name="Google Shape;1009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3" name="Google Shape;1013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4" name="Google Shape;1014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5" name="Google Shape;1015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6" name="Google Shape;1016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1" name="Google Shape;1021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5" name="Google Shape;1025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6" name="Google Shape;1026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30" name="Google Shape;1030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1" name="Google Shape;1031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2" name="Google Shape;1032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3" name="Google Shape;1033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1036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8" name="Google Shape;1038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2" name="Google Shape;1042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3" name="Google Shape;1043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7" name="Google Shape;1047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" name="Google Shape;1048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9" name="Google Shape;1049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50" name="Google Shape;1050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8" name="Google Shape;1058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9" name="Google Shape;1059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60" name="Google Shape;1060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1" name="Google Shape;1061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2" name="Google Shape;1062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3" name="Google Shape;1063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8" name="Google Shape;1068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Google Shape;1071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5" name="Google Shape;1075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1" name="Google Shape;1081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3" name="Google Shape;1083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5" name="Google Shape;1085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Google Shape;1088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2" name="Google Shape;1092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3" name="Google Shape;1093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9" name="Google Shape;1099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1" name="Google Shape;1101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8" name="Google Shape;1108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9" name="Google Shape;1109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7" name="Google Shape;1117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5" name="Google Shape;1125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" name="Google Shape;1128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4" name="Google Shape;1134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8" name="Google Shape;1138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6" name="Google Shape;1146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0" name="Google Shape;1150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5" name="Google Shape;1155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7" name="Google Shape;1157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2" name="Google Shape;1162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7" name="Google Shape;1167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2" name="Google Shape;1172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7" name="Google Shape;1177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9" name="Google Shape;1179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80" name="Google Shape;1180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4" name="Google Shape;1184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5" name="Google Shape;1185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7" name="Google Shape;1207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12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0" name="Google Shape;1210;p12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1" name="Google Shape;1211;p12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2" name="Google Shape;1212;p12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2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22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22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7" name="Google Shape;1217;p122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/>
          </a:p>
        </p:txBody>
      </p:sp>
      <p:sp>
        <p:nvSpPr>
          <p:cNvPr id="1218" name="Google Shape;1218;p122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/>
          </a:p>
        </p:txBody>
      </p:sp>
      <p:sp>
        <p:nvSpPr>
          <p:cNvPr id="1219" name="Google Shape;1219;p122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0" name="Google Shape;1220;p122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122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122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3" name="Google Shape;1223;p122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4" name="Google Shape;1224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22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6" name="Google Shape;1226;p122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7" name="Google Shape;1227;p122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122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9" name="Google Shape;1229;p1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2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12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1235" name="Google Shape;1235;p12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1236" name="Google Shape;1236;p12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1237" name="Google Shape;1237;p12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1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0" name="Google Shape;1240;p124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241" name="Google Shape;1241;p1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2" name="Google Shape;1242;p124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3" name="Google Shape;1243;p124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4" name="Google Shape;1244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5" name="Google Shape;1245;p124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246" name="Google Shape;1246;p124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24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8" name="Google Shape;1248;p124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9" name="Google Shape;1249;p124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0" name="Google Shape;1250;p12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2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2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_Layout Personalizado"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5" name="Google Shape;1255;p12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6" name="Google Shape;1256;p12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2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2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9" name="Google Shape;1259;p12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25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126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2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2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6" name="Google Shape;1266;p12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67" name="Google Shape;1267;p12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68" name="Google Shape;1268;p12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69" name="Google Shape;1269;p12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70" name="Google Shape;1270;p12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12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12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12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4" name="Google Shape;1274;p12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12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6" name="Google Shape;1276;p12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7" name="Google Shape;1277;p12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78" name="Google Shape;1278;p12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2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1" name="Google Shape;1281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12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27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5" name="Google Shape;1285;p127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86" name="Google Shape;1286;p127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87" name="Google Shape;1287;p127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8" name="Google Shape;1288;p127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9" name="Google Shape;1289;p127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0" name="Google Shape;1290;p127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1" name="Google Shape;1291;p127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7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27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27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5" name="Google Shape;1295;p127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6" name="Google Shape;1296;p127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97" name="Google Shape;1297;p12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1_1. Conteudo"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9" name="Google Shape;1299;p12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0" name="Google Shape;1300;p12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1" name="Google Shape;1301;p12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2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12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4" name="Google Shape;1304;p12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5" name="Google Shape;1305;p12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12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1307" name="Google Shape;1307;p12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2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9" name="Google Shape;1309;p12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0" name="Google Shape;1310;p12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11" name="Google Shape;1311;p12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312" name="Google Shape;1312;p1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3" name="Google Shape;1313;p12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4" name="Google Shape;1314;p12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5" name="Google Shape;1315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2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12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9" name="Google Shape;1319;p12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320" name="Google Shape;1320;p12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321" name="Google Shape;1321;p12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12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3" name="Google Shape;1323;p12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2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12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6" name="Google Shape;1326;p12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7" name="Google Shape;1327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2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9" name="Google Shape;1329;p12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330" name="Google Shape;1330;p12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1" name="Google Shape;1331;p12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332" name="Google Shape;1332;p12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2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2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2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2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2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8" name="Google Shape;1338;p12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12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0" name="Google Shape;1340;p12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341" name="Google Shape;1341;p12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342" name="Google Shape;1342;p12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2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12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5" name="Google Shape;1345;p12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2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1. Conteudo"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2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9" name="Google Shape;1349;p12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2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2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2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3" name="Google Shape;1353;p12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12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Conteudo"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6" name="Google Shape;1356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3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3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3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130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1" name="Google Shape;1361;p13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13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13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3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131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9" name="Google Shape;1369;p131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0" name="Google Shape;1370;p13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13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2"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3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13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13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13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13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0" name="Google Shape;1380;p13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81" name="Google Shape;1381;p13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13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3"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3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3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133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9" name="Google Shape;1389;p133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0" name="Google Shape;1390;p133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33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2" name="Google Shape;1392;p13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13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4"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3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3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3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13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00" name="Google Shape;1400;p13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1" name="Google Shape;1401;p13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2" name="Google Shape;1402;p13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13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5"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13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135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35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1" name="Google Shape;1411;p13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13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6"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3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3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13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13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9" name="Google Shape;1419;p13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0" name="Google Shape;1420;p13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13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2_Linha do Tempo1"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3" name="Google Shape;1423;p137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4" name="Google Shape;1424;p137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5" name="Google Shape;1425;p137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426" name="Google Shape;1426;p137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7" name="Google Shape;1427;p137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8" name="Google Shape;1428;p137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9" name="Google Shape;1429;p137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30" name="Google Shape;1430;p137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13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5" name="Google Shape;1435;p13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6" name="Google Shape;1436;p13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7" name="Google Shape;1437;p13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8" name="Google Shape;1438;p13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9" name="Google Shape;1439;p13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0" name="Google Shape;1440;p13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13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39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6" name="Google Shape;1446;p139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7" name="Google Shape;1447;p139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8" name="Google Shape;1448;p139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9" name="Google Shape;1449;p139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0" name="Google Shape;1450;p139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1" name="Google Shape;1451;p139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2" name="Google Shape;1452;p13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3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40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8" name="Google Shape;1458;p140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9" name="Google Shape;1459;p140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0" name="Google Shape;1460;p140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1" name="Google Shape;1461;p140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2" name="Google Shape;1462;p140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3" name="Google Shape;1463;p140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4" name="Google Shape;1464;p14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14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41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0" name="Google Shape;1470;p141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1" name="Google Shape;1471;p141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2" name="Google Shape;1472;p141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3" name="Google Shape;1473;p141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4" name="Google Shape;1474;p141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5" name="Google Shape;1475;p14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141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Atividade"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43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143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3" name="Google Shape;1483;p143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4" name="Google Shape;1484;p143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143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 2"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1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8" name="Google Shape;1488;p144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1489" name="Google Shape;1489;p14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4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4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2" name="Google Shape;1492;p144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3" name="Google Shape;1493;p144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1_Atividade_Resposta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4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7" name="Google Shape;1497;p14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8" name="Google Shape;1498;p14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9" name="Google Shape;1499;p14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1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14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3" name="Google Shape;1503;p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14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5" name="Google Shape;1505;p14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6" name="Google Shape;1506;p14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7" name="Google Shape;1507;p14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8" name="Google Shape;1508;p14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9" name="Google Shape;1509;p14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0" name="Google Shape;1510;p14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1_Atividade_embranco"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13" name="Google Shape;1513;p148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49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7" name="Google Shape;1517;p149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14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50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150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150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3" name="Google Shape;1523;p150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4" name="Google Shape;1524;p150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150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1526" name="Google Shape;1526;p150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27" name="Google Shape;1527;p150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1528" name="Google Shape;1528;p150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29" name="Google Shape;1529;p150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1530" name="Google Shape;1530;p150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31" name="Google Shape;1531;p150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1532" name="Google Shape;1532;p150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33" name="Google Shape;1533;p150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4" name="Google Shape;1534;p150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5" name="Google Shape;1535;p150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6" name="Google Shape;1536;p150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7" name="Google Shape;1537;p15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15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Google Shape;1540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51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151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3" name="Google Shape;1543;p151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1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52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7" name="Google Shape;1547;p152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48" name="Google Shape;1548;p152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9" name="Google Shape;1549;p152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50" name="Google Shape;1550;p152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51" name="Google Shape;1551;p152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152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152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152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152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152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8" name="Google Shape;1558;p1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9" name="Google Shape;1559;p153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60" name="Google Shape;1560;p153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61" name="Google Shape;1561;p153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62" name="Google Shape;1562;p153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/>
          </a:p>
        </p:txBody>
      </p:sp>
      <p:sp>
        <p:nvSpPr>
          <p:cNvPr id="1563" name="Google Shape;1563;p153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153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3_Atividade_Seminario"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" name="Google Shape;1566;p1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54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69" name="Google Shape;1569;p154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Google Shape;1571;p1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15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4" name="Google Shape;1574;p1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1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7" name="Google Shape;1577;p1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5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0" name="Google Shape;1580;p15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1" name="Google Shape;1581;p15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2" name="Google Shape;1582;p1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5" name="Google Shape;1585;p1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1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7" name="Google Shape;1587;p15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88" name="Google Shape;1588;p15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9" name="Google Shape;1589;p15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90" name="Google Shape;1590;p15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1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Google Shape;1594;p1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1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6" name="Google Shape;1596;p15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97" name="Google Shape;1597;p15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8" name="Google Shape;1598;p15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9" name="Google Shape;1599;p15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00" name="Google Shape;1600;p15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01" name="Google Shape;1601;p15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2" name="Google Shape;1602;p15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3" name="Google Shape;1603;p15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4" name="Google Shape;1604;p15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5" name="Google Shape;1605;p15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6" name="Google Shape;1606;p1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1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5">
    <p:bg>
      <p:bgPr>
        <a:solidFill>
          <a:schemeClr val="lt1"/>
        </a:solidFill>
        <a:effectLst/>
      </p:bgPr>
    </p:bg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9" name="Google Shape;1609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1" name="Google Shape;1611;p15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12" name="Google Shape;1612;p15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3" name="Google Shape;1613;p15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4" name="Google Shape;1614;p15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5" name="Google Shape;1615;p15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16" name="Google Shape;1616;p15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7" name="Google Shape;1617;p15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8" name="Google Shape;1618;p15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9" name="Google Shape;1619;p15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20" name="Google Shape;1620;p15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1" name="Google Shape;1621;p1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1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4" name="Google Shape;1624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6" name="Google Shape;1626;p16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27" name="Google Shape;1627;p16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8" name="Google Shape;1628;p16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9" name="Google Shape;1629;p16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30" name="Google Shape;1630;p16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1" name="Google Shape;1631;p16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2" name="Google Shape;1632;p16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3" name="Google Shape;1633;p16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4" name="Google Shape;1634;p16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5" name="Google Shape;1635;p16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6" name="Google Shape;1636;p16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37" name="Google Shape;1637;p16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8" name="Google Shape;1638;p16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16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1" name="Google Shape;1641;p1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3" name="Google Shape;1643;p16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44" name="Google Shape;1644;p16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5" name="Google Shape;1645;p16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6" name="Google Shape;1646;p16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7" name="Google Shape;1647;p16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48" name="Google Shape;1648;p16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49" name="Google Shape;1649;p16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0" name="Google Shape;1650;p16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1" name="Google Shape;1651;p16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2" name="Google Shape;1652;p16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3" name="Google Shape;1653;p16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54" name="Google Shape;1654;p16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55" name="Google Shape;1655;p16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16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" name="Google Shape;1658;p1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1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0" name="Google Shape;1660;p16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61" name="Google Shape;1661;p16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2" name="Google Shape;1662;p16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3" name="Google Shape;1663;p16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4" name="Google Shape;1664;p16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65" name="Google Shape;1665;p16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6" name="Google Shape;1666;p16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7" name="Google Shape;1667;p16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8" name="Google Shape;1668;p16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9" name="Google Shape;1669;p16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0" name="Google Shape;1670;p16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71" name="Google Shape;1671;p16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72" name="Google Shape;1672;p16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16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5" name="Google Shape;1675;p1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6" name="Google Shape;1676;p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16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8" name="Google Shape;1678;p16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9" name="Google Shape;1679;p16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80" name="Google Shape;1680;p16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681" name="Google Shape;1681;p16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82" name="Google Shape;1682;p16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3" name="Google Shape;1683;p16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4" name="Google Shape;1684;p16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85" name="Google Shape;1685;p16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6" name="Google Shape;1686;p16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7" name="Google Shape;1687;p16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8" name="Google Shape;1688;p16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9" name="Google Shape;1689;p16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90" name="Google Shape;1690;p1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Google Shape;1693;p1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4" name="Google Shape;1694;p1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6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16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7" name="Google Shape;1697;p16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16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6" name="Google Shape;1706;p1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1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16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09" name="Google Shape;1709;p16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1" name="Google Shape;1711;p1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16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13" name="Google Shape;1713;p16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16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6" name="Google Shape;1716;p1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7" name="Google Shape;1717;p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6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19" name="Google Shape;1719;p16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0" name="Google Shape;1720;p16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1" name="Google Shape;1721;p16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6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4" name="Google Shape;1724;p1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16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7" name="Google Shape;1727;p16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8" name="Google Shape;1728;p16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29" name="Google Shape;1729;p16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16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"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2" name="Google Shape;1732;p1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17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5" name="Google Shape;1735;p17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6" name="Google Shape;1736;p17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7" name="Google Shape;1737;p17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7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" name="Google Shape;1740;p1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7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3" name="Google Shape;1743;p17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4" name="Google Shape;1744;p17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5" name="Google Shape;1745;p17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17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 7">
    <p:bg>
      <p:bgPr>
        <a:solidFill>
          <a:srgbClr val="28566E"/>
        </a:solidFill>
        <a:effectLst/>
      </p:bgPr>
    </p:bg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8" name="Google Shape;1748;p1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17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17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17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52" name="Google Shape;1752;p17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3" name="Google Shape;1753;p17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4" name="Google Shape;1754;p17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7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17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7" name="Google Shape;1757;p17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8" name="Google Shape;1758;p17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17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">
    <p:bg>
      <p:bgPr>
        <a:solidFill>
          <a:srgbClr val="28566E"/>
        </a:solidFill>
        <a:effectLst/>
      </p:bgPr>
    </p:bg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" name="Google Shape;1761;p1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17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17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64" name="Google Shape;1764;p17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5" name="Google Shape;1765;p17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6" name="Google Shape;1766;p17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7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17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9" name="Google Shape;1769;p17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0" name="Google Shape;1770;p17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7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7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17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2">
    <p:bg>
      <p:bgPr>
        <a:solidFill>
          <a:srgbClr val="28566E"/>
        </a:solidFill>
        <a:effectLst/>
      </p:bgPr>
    </p:bg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17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77" name="Google Shape;1777;p17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78" name="Google Shape;1778;p17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9" name="Google Shape;1779;p17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0" name="Google Shape;1780;p17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1" name="Google Shape;1781;p17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2" name="Google Shape;1782;p17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17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3">
    <p:bg>
      <p:bgPr>
        <a:solidFill>
          <a:srgbClr val="28566E"/>
        </a:solidFill>
        <a:effectLst/>
      </p:bgPr>
    </p:bg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1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17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87" name="Google Shape;1787;p17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88" name="Google Shape;1788;p17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9" name="Google Shape;1789;p17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0" name="Google Shape;1790;p17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1" name="Google Shape;1791;p17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2" name="Google Shape;1792;p17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17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5" name="Google Shape;1795;p1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17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7" name="Google Shape;1797;p17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17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9" name="Google Shape;1799;p17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00" name="Google Shape;1800;p17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17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7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7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6" name="Google Shape;1806;p178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7" name="Google Shape;1807;p178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17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7" name="Google Shape;1817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9" name="Google Shape;1819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5" name="Google Shape;1825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6" name="Google Shape;1826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2" name="Google Shape;1842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3" name="Google Shape;1843;p182"/>
          <p:cNvCxnSpPr>
            <a:stCxn id="1842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4" name="Google Shape;1844;p182"/>
          <p:cNvCxnSpPr>
            <a:endCxn id="1823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5" name="Google Shape;1845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6" name="Google Shape;1846;p182"/>
          <p:cNvCxnSpPr>
            <a:stCxn id="1845" idx="4"/>
            <a:endCxn id="1821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7" name="Google Shape;1847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8" name="Google Shape;1848;p182"/>
          <p:cNvCxnSpPr>
            <a:stCxn id="1847" idx="3"/>
            <a:endCxn id="1822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9" name="Google Shape;1849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0" name="Google Shape;1850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4" name="Google Shape;1854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5" name="Google Shape;1855;p182"/>
          <p:cNvCxnSpPr>
            <a:stCxn id="1854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6" name="Google Shape;1856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8" name="Google Shape;1868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9" name="Google Shape;1869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70" name="Google Shape;1870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1" name="Google Shape;1871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2" name="Google Shape;1872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3" name="Google Shape;1873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4" name="Google Shape;1874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5" name="Google Shape;1875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7" name="Google Shape;1877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8" name="Google Shape;1878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84" name="Google Shape;1884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6" name="Google Shape;1886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7" name="Google Shape;1887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7" name="Google Shape;1897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8" name="Google Shape;1898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9" name="Google Shape;1899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0" name="Google Shape;1900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1" name="Google Shape;1901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2" name="Google Shape;1902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6" name="Google Shape;1906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7" name="Google Shape;1907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8" name="Google Shape;1908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0" name="Google Shape;1910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3" name="Google Shape;1913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4" name="Google Shape;1914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6" name="Google Shape;1916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7" name="Google Shape;1917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8" name="Google Shape;1918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9" name="Google Shape;1919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5" name="Google Shape;1925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7" name="Google Shape;1927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8" name="Google Shape;1928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9" name="Google Shape;1929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2" name="Google Shape;1932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" name="Google Shape;1935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1" name="Google Shape;1941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4" name="Google Shape;1944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9" name="Google Shape;1949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7" name="Google Shape;1957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0" name="Google Shape;1960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6" name="Google Shape;1966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9" name="Google Shape;1969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4" name="Google Shape;1974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6" name="Google Shape;1976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9" name="Google Shape;1979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5" name="Google Shape;1985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7" name="Google Shape;1987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Google Shape;1990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7" name="Google Shape;1997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8" name="Google Shape;1998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Google Shape;2001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7" name="Google Shape;2007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0" name="Google Shape;2010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4" name="Google Shape;2014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5" name="Google Shape;2015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6" name="Google Shape;2016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8" name="Google Shape;2018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5" name="Google Shape;2025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6" name="Google Shape;2026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9" name="Google Shape;2029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0" name="Google Shape;2030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2" name="Google Shape;2032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8" name="Google Shape;2038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2040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1" name="Google Shape;2041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8" name="Google Shape;2048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Google Shape;2051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Google Shape;2052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" name="Google Shape;2059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Google Shape;2062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3" name="Google Shape;2063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6" name="Google Shape;2066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7" name="Google Shape;2067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0" name="Google Shape;2070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" name="Google Shape;2071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8" name="Google Shape;2078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1" name="Google Shape;2081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2" name="Google Shape;2082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6" name="Google Shape;2086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7" name="Google Shape;2087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9" name="Google Shape;2089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4" name="Google Shape;2094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" name="Google Shape;2097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2" name="Google Shape;2102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6" name="Google Shape;2106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0" name="Google Shape;2110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1" name="Google Shape;2111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2" name="Google Shape;2112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7" name="Google Shape;2117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Google Shape;2121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2" name="Google Shape;2122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3" name="Google Shape;2123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5" name="Google Shape;2125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6" name="Google Shape;2126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0" name="Google Shape;2130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4" name="Google Shape;2134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7" name="Google Shape;2137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8" name="Google Shape;2158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1" name="Google Shape;2161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2" name="Google Shape;2162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3" name="Google Shape;2163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6" name="Google Shape;2176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9" name="Google Shape;2179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0" name="Google Shape;2180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3" name="Google Shape;2183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4" name="Google Shape;2184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7" name="Google Shape;2187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8" name="Google Shape;2188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9" name="Google Shape;2189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1" name="Google Shape;2191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7" name="Google Shape;2197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9" name="Google Shape;2199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4" name="Google Shape;2204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7" name="Google Shape;2207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3" name="Google Shape;2213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7" name="Google Shape;2217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0" name="Google Shape;2220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1" name="Google Shape;2221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2" name="Google Shape;2222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7" name="Google Shape;2227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0" name="Google Shape;2230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1" name="Google Shape;2231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2" name="Google Shape;2232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4" name="Google Shape;2234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5" name="Google Shape;2235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8" name="Google Shape;2238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7" name="Google Shape;2247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0" name="Google Shape;2250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1" name="Google Shape;2251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5" name="Google Shape;2255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7" name="Google Shape;2267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9" name="Google Shape;2269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0" name="Google Shape;2270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1" name="Google Shape;2271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2" name="Google Shape;2272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3" name="Google Shape;2273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4" name="Google Shape;2274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5" name="Google Shape;2275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6" name="Google Shape;2276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0" name="Google Shape;2280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1" name="Google Shape;2291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2" name="Google Shape;2292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3" name="Google Shape;2293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4" name="Google Shape;2294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5" name="Google Shape;2295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6" name="Google Shape;2296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7" name="Google Shape;2297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0" name="Google Shape;2300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1" name="Google Shape;2301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4" name="Google Shape;2304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5" name="Google Shape;2305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6" name="Google Shape;2306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1" name="Google Shape;2311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8" name="Google Shape;2318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9" name="Google Shape;2319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2" name="Google Shape;2322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3" name="Google Shape;2323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4" name="Google Shape;2324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6" name="Google Shape;2326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9" name="Google Shape;2329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0" name="Google Shape;2330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3" name="Google Shape;2333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4" name="Google Shape;2334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7" name="Google Shape;2337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9" name="Google Shape;2339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1" name="Google Shape;2341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4" name="Google Shape;2344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6" name="Google Shape;2346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7" name="Google Shape;2347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8" name="Google Shape;2348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1" name="Google Shape;2351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2" name="Google Shape;2352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3" name="Google Shape;2353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9" name="Google Shape;2359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362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3" name="Google Shape;2363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4" name="Google Shape;2364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1" name="Google Shape;2371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4" name="Google Shape;2374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5" name="Google Shape;2375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6" name="Google Shape;2376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3" name="Google Shape;2383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6" name="Google Shape;2386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7" name="Google Shape;2387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3" name="Google Shape;2393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" name="Google Shape;2396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7" name="Google Shape;2397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8" name="Google Shape;2398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1" name="Google Shape;2401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2" name="Google Shape;2402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6" name="Google Shape;2406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9" name="Google Shape;2409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10" name="Google Shape;2410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4" name="Google Shape;2414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8" name="Google Shape;2418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1" name="Google Shape;2421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3" name="Google Shape;2423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4" name="Google Shape;2424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5" name="Google Shape;2425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0" name="Google Shape;2430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3" name="Google Shape;2433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4" name="Google Shape;2434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5" name="Google Shape;2435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6" name="Google Shape;2436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8" name="Google Shape;2438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5" name="Google Shape;2445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7" name="Google Shape;2447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8" name="Google Shape;2448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1" name="Google Shape;2451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4" name="Google Shape;2454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5" name="Google Shape;2455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6" name="Google Shape;2456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9" name="Google Shape;2459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0" name="Google Shape;2460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1" name="Google Shape;2461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5" name="Google Shape;2465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2" name="Google Shape;2472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5" name="Google Shape;2475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7" name="Google Shape;2477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8" name="Google Shape;2478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80" name="Google Shape;2480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2" name="Google Shape;2482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3" name="Google Shape;2483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7" name="Google Shape;2487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8" name="Google Shape;2488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5" name="Google Shape;2495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9" name="Google Shape;2499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500" name="Google Shape;2500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1" name="Google Shape;2501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3" name="Google Shape;2503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0" name="Google Shape;2510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1" name="Google Shape;2511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3" name="Google Shape;2513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4" name="Google Shape;2514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5" name="Google Shape;2515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6" name="Google Shape;2516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7" name="Google Shape;2517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8" name="Google Shape;2518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20" name="Google Shape;2520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2" name="Google Shape;2522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3" name="Google Shape;2523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4" name="Google Shape;2524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0" name="Google Shape;2530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3" name="Google Shape;2533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4" name="Google Shape;2534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5" name="Google Shape;2535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2" name="Google Shape;2542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4" name="Google Shape;2544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5" name="Google Shape;2545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6" name="Google Shape;2546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7" name="Google Shape;2547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8" name="Google Shape;2548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2" name="Google Shape;2552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3" name="Google Shape;2553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4" name="Google Shape;2554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5" name="Google Shape;2555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7" name="Google Shape;2557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1" name="Google Shape;2561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2" name="Google Shape;2562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3" name="Google Shape;2563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4" name="Google Shape;2564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6" name="Google Shape;2566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0" name="Google Shape;2570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1" name="Google Shape;2571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2" name="Google Shape;2572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6" name="Google Shape;2576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7" name="Google Shape;2577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1" name="Google Shape;2581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2" name="Google Shape;2582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5" name="Google Shape;2585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6" name="Google Shape;2586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7" name="Google Shape;2587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1" name="Google Shape;2591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2" name="Google Shape;2592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6" name="Google Shape;2596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7" name="Google Shape;2597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" name="Google Shape;2600;p2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1" name="Google Shape;2601;p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2" name="Google Shape;2602;p25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03" name="Google Shape;2603;p25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4" name="Google Shape;2604;p25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5" name="Google Shape;2605;p25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6" name="Google Shape;2606;p25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07" name="Google Shape;2607;p25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8" name="Google Shape;2608;p25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9" name="Google Shape;2609;p25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0" name="Google Shape;2610;p25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1" name="Google Shape;2611;p25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2" name="Google Shape;2612;p2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2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5" name="Google Shape;2615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6" name="Google Shape;2616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7" name="Google Shape;2617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1" name="Google Shape;2621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2" name="Google Shape;2622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6" name="Google Shape;2626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7" name="Google Shape;2627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8" name="Google Shape;2628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9" name="Google Shape;2629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2" name="Google Shape;2632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3" name="Google Shape;2633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4" name="Google Shape;2634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8" name="Google Shape;2638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9" name="Google Shape;2639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3" name="Google Shape;2643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4" name="Google Shape;2644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5" name="Google Shape;2645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6" name="Google Shape;2646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9" name="Google Shape;2649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0" name="Google Shape;2650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1" name="Google Shape;2651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5" name="Google Shape;2655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6" name="Google Shape;2656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0" name="Google Shape;2660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1" name="Google Shape;2661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2" name="Google Shape;2662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3" name="Google Shape;2663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6" name="Google Shape;2666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7" name="Google Shape;2667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8" name="Google Shape;2668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1" name="Google Shape;2671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2" name="Google Shape;2672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3" name="Google Shape;2673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4" name="Google Shape;2674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5" name="Google Shape;2675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6" name="Google Shape;2676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1" name="Google Shape;2681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4" name="Google Shape;2684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5" name="Google Shape;2685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6" name="Google Shape;2686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0" name="Google Shape;2690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1" name="Google Shape;2691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2" name="Google Shape;2692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3" name="Google Shape;2693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5" name="Google Shape;2695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9" name="Google Shape;2699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0" name="Google Shape;2700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4" name="Google Shape;2704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5" name="Google Shape;2705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6" name="Google Shape;2706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7" name="Google Shape;2707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8" name="Google Shape;2708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9" name="Google Shape;2709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8.xml"/><Relationship Id="rId18" Type="http://schemas.openxmlformats.org/officeDocument/2006/relationships/slideLayout" Target="../slideLayouts/slideLayout133.xml"/><Relationship Id="rId26" Type="http://schemas.openxmlformats.org/officeDocument/2006/relationships/slideLayout" Target="../slideLayouts/slideLayout141.xml"/><Relationship Id="rId39" Type="http://schemas.openxmlformats.org/officeDocument/2006/relationships/slideLayout" Target="../slideLayouts/slideLayout154.xml"/><Relationship Id="rId21" Type="http://schemas.openxmlformats.org/officeDocument/2006/relationships/slideLayout" Target="../slideLayouts/slideLayout136.xml"/><Relationship Id="rId34" Type="http://schemas.openxmlformats.org/officeDocument/2006/relationships/slideLayout" Target="../slideLayouts/slideLayout149.xml"/><Relationship Id="rId42" Type="http://schemas.openxmlformats.org/officeDocument/2006/relationships/slideLayout" Target="../slideLayouts/slideLayout157.xml"/><Relationship Id="rId47" Type="http://schemas.openxmlformats.org/officeDocument/2006/relationships/slideLayout" Target="../slideLayouts/slideLayout162.xml"/><Relationship Id="rId50" Type="http://schemas.openxmlformats.org/officeDocument/2006/relationships/slideLayout" Target="../slideLayouts/slideLayout165.xml"/><Relationship Id="rId55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31.xml"/><Relationship Id="rId29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26.xml"/><Relationship Id="rId24" Type="http://schemas.openxmlformats.org/officeDocument/2006/relationships/slideLayout" Target="../slideLayouts/slideLayout139.xml"/><Relationship Id="rId32" Type="http://schemas.openxmlformats.org/officeDocument/2006/relationships/slideLayout" Target="../slideLayouts/slideLayout147.xml"/><Relationship Id="rId37" Type="http://schemas.openxmlformats.org/officeDocument/2006/relationships/slideLayout" Target="../slideLayouts/slideLayout152.xml"/><Relationship Id="rId40" Type="http://schemas.openxmlformats.org/officeDocument/2006/relationships/slideLayout" Target="../slideLayouts/slideLayout155.xml"/><Relationship Id="rId45" Type="http://schemas.openxmlformats.org/officeDocument/2006/relationships/slideLayout" Target="../slideLayouts/slideLayout160.xml"/><Relationship Id="rId53" Type="http://schemas.openxmlformats.org/officeDocument/2006/relationships/slideLayout" Target="../slideLayouts/slideLayout168.xml"/><Relationship Id="rId58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20.xml"/><Relationship Id="rId19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4.xml"/><Relationship Id="rId14" Type="http://schemas.openxmlformats.org/officeDocument/2006/relationships/slideLayout" Target="../slideLayouts/slideLayout129.xml"/><Relationship Id="rId22" Type="http://schemas.openxmlformats.org/officeDocument/2006/relationships/slideLayout" Target="../slideLayouts/slideLayout137.xml"/><Relationship Id="rId27" Type="http://schemas.openxmlformats.org/officeDocument/2006/relationships/slideLayout" Target="../slideLayouts/slideLayout142.xml"/><Relationship Id="rId30" Type="http://schemas.openxmlformats.org/officeDocument/2006/relationships/slideLayout" Target="../slideLayouts/slideLayout145.xml"/><Relationship Id="rId35" Type="http://schemas.openxmlformats.org/officeDocument/2006/relationships/slideLayout" Target="../slideLayouts/slideLayout150.xml"/><Relationship Id="rId43" Type="http://schemas.openxmlformats.org/officeDocument/2006/relationships/slideLayout" Target="../slideLayouts/slideLayout158.xml"/><Relationship Id="rId48" Type="http://schemas.openxmlformats.org/officeDocument/2006/relationships/slideLayout" Target="../slideLayouts/slideLayout163.xml"/><Relationship Id="rId56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23.xml"/><Relationship Id="rId51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7.xml"/><Relationship Id="rId17" Type="http://schemas.openxmlformats.org/officeDocument/2006/relationships/slideLayout" Target="../slideLayouts/slideLayout132.xml"/><Relationship Id="rId25" Type="http://schemas.openxmlformats.org/officeDocument/2006/relationships/slideLayout" Target="../slideLayouts/slideLayout140.xml"/><Relationship Id="rId33" Type="http://schemas.openxmlformats.org/officeDocument/2006/relationships/slideLayout" Target="../slideLayouts/slideLayout148.xml"/><Relationship Id="rId38" Type="http://schemas.openxmlformats.org/officeDocument/2006/relationships/slideLayout" Target="../slideLayouts/slideLayout153.xml"/><Relationship Id="rId46" Type="http://schemas.openxmlformats.org/officeDocument/2006/relationships/slideLayout" Target="../slideLayouts/slideLayout161.xml"/><Relationship Id="rId59" Type="http://schemas.openxmlformats.org/officeDocument/2006/relationships/theme" Target="../theme/theme3.xml"/><Relationship Id="rId20" Type="http://schemas.openxmlformats.org/officeDocument/2006/relationships/slideLayout" Target="../slideLayouts/slideLayout135.xml"/><Relationship Id="rId41" Type="http://schemas.openxmlformats.org/officeDocument/2006/relationships/slideLayout" Target="../slideLayouts/slideLayout156.xml"/><Relationship Id="rId54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21.xml"/><Relationship Id="rId15" Type="http://schemas.openxmlformats.org/officeDocument/2006/relationships/slideLayout" Target="../slideLayouts/slideLayout130.xml"/><Relationship Id="rId23" Type="http://schemas.openxmlformats.org/officeDocument/2006/relationships/slideLayout" Target="../slideLayouts/slideLayout138.xml"/><Relationship Id="rId28" Type="http://schemas.openxmlformats.org/officeDocument/2006/relationships/slideLayout" Target="../slideLayouts/slideLayout143.xml"/><Relationship Id="rId36" Type="http://schemas.openxmlformats.org/officeDocument/2006/relationships/slideLayout" Target="../slideLayouts/slideLayout151.xml"/><Relationship Id="rId49" Type="http://schemas.openxmlformats.org/officeDocument/2006/relationships/slideLayout" Target="../slideLayouts/slideLayout164.xml"/><Relationship Id="rId57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6.xml"/><Relationship Id="rId44" Type="http://schemas.openxmlformats.org/officeDocument/2006/relationships/slideLayout" Target="../slideLayouts/slideLayout159.xml"/><Relationship Id="rId52" Type="http://schemas.openxmlformats.org/officeDocument/2006/relationships/slideLayout" Target="../slideLayouts/slideLayout167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99.xml"/><Relationship Id="rId21" Type="http://schemas.openxmlformats.org/officeDocument/2006/relationships/slideLayout" Target="../slideLayouts/slideLayout194.xml"/><Relationship Id="rId42" Type="http://schemas.openxmlformats.org/officeDocument/2006/relationships/slideLayout" Target="../slideLayouts/slideLayout215.xml"/><Relationship Id="rId47" Type="http://schemas.openxmlformats.org/officeDocument/2006/relationships/slideLayout" Target="../slideLayouts/slideLayout220.xml"/><Relationship Id="rId63" Type="http://schemas.openxmlformats.org/officeDocument/2006/relationships/slideLayout" Target="../slideLayouts/slideLayout236.xml"/><Relationship Id="rId68" Type="http://schemas.openxmlformats.org/officeDocument/2006/relationships/slideLayout" Target="../slideLayouts/slideLayout241.xml"/><Relationship Id="rId84" Type="http://schemas.openxmlformats.org/officeDocument/2006/relationships/theme" Target="../theme/theme4.xml"/><Relationship Id="rId16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84.xml"/><Relationship Id="rId32" Type="http://schemas.openxmlformats.org/officeDocument/2006/relationships/slideLayout" Target="../slideLayouts/slideLayout205.xml"/><Relationship Id="rId37" Type="http://schemas.openxmlformats.org/officeDocument/2006/relationships/slideLayout" Target="../slideLayouts/slideLayout210.xml"/><Relationship Id="rId53" Type="http://schemas.openxmlformats.org/officeDocument/2006/relationships/slideLayout" Target="../slideLayouts/slideLayout226.xml"/><Relationship Id="rId58" Type="http://schemas.openxmlformats.org/officeDocument/2006/relationships/slideLayout" Target="../slideLayouts/slideLayout231.xml"/><Relationship Id="rId74" Type="http://schemas.openxmlformats.org/officeDocument/2006/relationships/slideLayout" Target="../slideLayouts/slideLayout247.xml"/><Relationship Id="rId79" Type="http://schemas.openxmlformats.org/officeDocument/2006/relationships/slideLayout" Target="../slideLayouts/slideLayout252.xml"/><Relationship Id="rId5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234.xml"/><Relationship Id="rId82" Type="http://schemas.openxmlformats.org/officeDocument/2006/relationships/slideLayout" Target="../slideLayouts/slideLayout255.xml"/><Relationship Id="rId19" Type="http://schemas.openxmlformats.org/officeDocument/2006/relationships/slideLayout" Target="../slideLayouts/slideLayout192.xml"/><Relationship Id="rId14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95.xml"/><Relationship Id="rId27" Type="http://schemas.openxmlformats.org/officeDocument/2006/relationships/slideLayout" Target="../slideLayouts/slideLayout200.xml"/><Relationship Id="rId30" Type="http://schemas.openxmlformats.org/officeDocument/2006/relationships/slideLayout" Target="../slideLayouts/slideLayout203.xml"/><Relationship Id="rId35" Type="http://schemas.openxmlformats.org/officeDocument/2006/relationships/slideLayout" Target="../slideLayouts/slideLayout208.xml"/><Relationship Id="rId43" Type="http://schemas.openxmlformats.org/officeDocument/2006/relationships/slideLayout" Target="../slideLayouts/slideLayout216.xml"/><Relationship Id="rId48" Type="http://schemas.openxmlformats.org/officeDocument/2006/relationships/slideLayout" Target="../slideLayouts/slideLayout221.xml"/><Relationship Id="rId56" Type="http://schemas.openxmlformats.org/officeDocument/2006/relationships/slideLayout" Target="../slideLayouts/slideLayout229.xml"/><Relationship Id="rId64" Type="http://schemas.openxmlformats.org/officeDocument/2006/relationships/slideLayout" Target="../slideLayouts/slideLayout237.xml"/><Relationship Id="rId69" Type="http://schemas.openxmlformats.org/officeDocument/2006/relationships/slideLayout" Target="../slideLayouts/slideLayout242.xml"/><Relationship Id="rId77" Type="http://schemas.openxmlformats.org/officeDocument/2006/relationships/slideLayout" Target="../slideLayouts/slideLayout250.xml"/><Relationship Id="rId8" Type="http://schemas.openxmlformats.org/officeDocument/2006/relationships/slideLayout" Target="../slideLayouts/slideLayout181.xml"/><Relationship Id="rId51" Type="http://schemas.openxmlformats.org/officeDocument/2006/relationships/slideLayout" Target="../slideLayouts/slideLayout224.xml"/><Relationship Id="rId72" Type="http://schemas.openxmlformats.org/officeDocument/2006/relationships/slideLayout" Target="../slideLayouts/slideLayout245.xml"/><Relationship Id="rId80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176.xml"/><Relationship Id="rId12" Type="http://schemas.openxmlformats.org/officeDocument/2006/relationships/slideLayout" Target="../slideLayouts/slideLayout185.xml"/><Relationship Id="rId17" Type="http://schemas.openxmlformats.org/officeDocument/2006/relationships/slideLayout" Target="../slideLayouts/slideLayout190.xml"/><Relationship Id="rId25" Type="http://schemas.openxmlformats.org/officeDocument/2006/relationships/slideLayout" Target="../slideLayouts/slideLayout198.xml"/><Relationship Id="rId33" Type="http://schemas.openxmlformats.org/officeDocument/2006/relationships/slideLayout" Target="../slideLayouts/slideLayout206.xml"/><Relationship Id="rId38" Type="http://schemas.openxmlformats.org/officeDocument/2006/relationships/slideLayout" Target="../slideLayouts/slideLayout211.xml"/><Relationship Id="rId46" Type="http://schemas.openxmlformats.org/officeDocument/2006/relationships/slideLayout" Target="../slideLayouts/slideLayout219.xml"/><Relationship Id="rId59" Type="http://schemas.openxmlformats.org/officeDocument/2006/relationships/slideLayout" Target="../slideLayouts/slideLayout232.xml"/><Relationship Id="rId67" Type="http://schemas.openxmlformats.org/officeDocument/2006/relationships/slideLayout" Target="../slideLayouts/slideLayout240.xml"/><Relationship Id="rId20" Type="http://schemas.openxmlformats.org/officeDocument/2006/relationships/slideLayout" Target="../slideLayouts/slideLayout193.xml"/><Relationship Id="rId41" Type="http://schemas.openxmlformats.org/officeDocument/2006/relationships/slideLayout" Target="../slideLayouts/slideLayout214.xml"/><Relationship Id="rId54" Type="http://schemas.openxmlformats.org/officeDocument/2006/relationships/slideLayout" Target="../slideLayouts/slideLayout227.xml"/><Relationship Id="rId62" Type="http://schemas.openxmlformats.org/officeDocument/2006/relationships/slideLayout" Target="../slideLayouts/slideLayout235.xml"/><Relationship Id="rId70" Type="http://schemas.openxmlformats.org/officeDocument/2006/relationships/slideLayout" Target="../slideLayouts/slideLayout243.xml"/><Relationship Id="rId75" Type="http://schemas.openxmlformats.org/officeDocument/2006/relationships/slideLayout" Target="../slideLayouts/slideLayout248.xml"/><Relationship Id="rId83" Type="http://schemas.openxmlformats.org/officeDocument/2006/relationships/slideLayout" Target="../slideLayouts/slideLayout256.xml"/><Relationship Id="rId1" Type="http://schemas.openxmlformats.org/officeDocument/2006/relationships/slideLayout" Target="../slideLayouts/slideLayout174.xml"/><Relationship Id="rId6" Type="http://schemas.openxmlformats.org/officeDocument/2006/relationships/slideLayout" Target="../slideLayouts/slideLayout179.xml"/><Relationship Id="rId15" Type="http://schemas.openxmlformats.org/officeDocument/2006/relationships/slideLayout" Target="../slideLayouts/slideLayout188.xml"/><Relationship Id="rId23" Type="http://schemas.openxmlformats.org/officeDocument/2006/relationships/slideLayout" Target="../slideLayouts/slideLayout196.xml"/><Relationship Id="rId28" Type="http://schemas.openxmlformats.org/officeDocument/2006/relationships/slideLayout" Target="../slideLayouts/slideLayout201.xml"/><Relationship Id="rId36" Type="http://schemas.openxmlformats.org/officeDocument/2006/relationships/slideLayout" Target="../slideLayouts/slideLayout209.xml"/><Relationship Id="rId49" Type="http://schemas.openxmlformats.org/officeDocument/2006/relationships/slideLayout" Target="../slideLayouts/slideLayout222.xml"/><Relationship Id="rId57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183.xml"/><Relationship Id="rId31" Type="http://schemas.openxmlformats.org/officeDocument/2006/relationships/slideLayout" Target="../slideLayouts/slideLayout204.xml"/><Relationship Id="rId44" Type="http://schemas.openxmlformats.org/officeDocument/2006/relationships/slideLayout" Target="../slideLayouts/slideLayout217.xml"/><Relationship Id="rId52" Type="http://schemas.openxmlformats.org/officeDocument/2006/relationships/slideLayout" Target="../slideLayouts/slideLayout225.xml"/><Relationship Id="rId60" Type="http://schemas.openxmlformats.org/officeDocument/2006/relationships/slideLayout" Target="../slideLayouts/slideLayout233.xml"/><Relationship Id="rId65" Type="http://schemas.openxmlformats.org/officeDocument/2006/relationships/slideLayout" Target="../slideLayouts/slideLayout238.xml"/><Relationship Id="rId73" Type="http://schemas.openxmlformats.org/officeDocument/2006/relationships/slideLayout" Target="../slideLayouts/slideLayout246.xml"/><Relationship Id="rId78" Type="http://schemas.openxmlformats.org/officeDocument/2006/relationships/slideLayout" Target="../slideLayouts/slideLayout251.xml"/><Relationship Id="rId81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177.xml"/><Relationship Id="rId9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6.xml"/><Relationship Id="rId18" Type="http://schemas.openxmlformats.org/officeDocument/2006/relationships/slideLayout" Target="../slideLayouts/slideLayout191.xml"/><Relationship Id="rId39" Type="http://schemas.openxmlformats.org/officeDocument/2006/relationships/slideLayout" Target="../slideLayouts/slideLayout212.xml"/><Relationship Id="rId34" Type="http://schemas.openxmlformats.org/officeDocument/2006/relationships/slideLayout" Target="../slideLayouts/slideLayout207.xml"/><Relationship Id="rId50" Type="http://schemas.openxmlformats.org/officeDocument/2006/relationships/slideLayout" Target="../slideLayouts/slideLayout223.xml"/><Relationship Id="rId55" Type="http://schemas.openxmlformats.org/officeDocument/2006/relationships/slideLayout" Target="../slideLayouts/slideLayout228.xml"/><Relationship Id="rId76" Type="http://schemas.openxmlformats.org/officeDocument/2006/relationships/slideLayout" Target="../slideLayouts/slideLayout249.xml"/><Relationship Id="rId7" Type="http://schemas.openxmlformats.org/officeDocument/2006/relationships/slideLayout" Target="../slideLayouts/slideLayout180.xml"/><Relationship Id="rId71" Type="http://schemas.openxmlformats.org/officeDocument/2006/relationships/slideLayout" Target="../slideLayouts/slideLayout244.xml"/><Relationship Id="rId2" Type="http://schemas.openxmlformats.org/officeDocument/2006/relationships/slideLayout" Target="../slideLayouts/slideLayout175.xml"/><Relationship Id="rId29" Type="http://schemas.openxmlformats.org/officeDocument/2006/relationships/slideLayout" Target="../slideLayouts/slideLayout202.xml"/><Relationship Id="rId24" Type="http://schemas.openxmlformats.org/officeDocument/2006/relationships/slideLayout" Target="../slideLayouts/slideLayout197.xml"/><Relationship Id="rId40" Type="http://schemas.openxmlformats.org/officeDocument/2006/relationships/slideLayout" Target="../slideLayouts/slideLayout213.xml"/><Relationship Id="rId45" Type="http://schemas.openxmlformats.org/officeDocument/2006/relationships/slideLayout" Target="../slideLayouts/slideLayout218.xml"/><Relationship Id="rId66" Type="http://schemas.openxmlformats.org/officeDocument/2006/relationships/slideLayout" Target="../slideLayouts/slideLayout2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16" r:id="rId51"/>
    <p:sldLayoutId id="2147483817" r:id="rId52"/>
    <p:sldLayoutId id="2147483818" r:id="rId53"/>
    <p:sldLayoutId id="2147483819" r:id="rId54"/>
    <p:sldLayoutId id="2147483820" r:id="rId55"/>
    <p:sldLayoutId id="2147483821" r:id="rId56"/>
    <p:sldLayoutId id="2147483822" r:id="rId57"/>
    <p:sldLayoutId id="2147483823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  <p:sldLayoutId id="2147483861" r:id="rId38"/>
    <p:sldLayoutId id="2147483862" r:id="rId39"/>
    <p:sldLayoutId id="2147483863" r:id="rId40"/>
    <p:sldLayoutId id="2147483864" r:id="rId41"/>
    <p:sldLayoutId id="2147483865" r:id="rId42"/>
    <p:sldLayoutId id="2147483866" r:id="rId43"/>
    <p:sldLayoutId id="2147483867" r:id="rId44"/>
    <p:sldLayoutId id="2147483868" r:id="rId45"/>
    <p:sldLayoutId id="2147483869" r:id="rId46"/>
    <p:sldLayoutId id="2147483870" r:id="rId47"/>
    <p:sldLayoutId id="2147483871" r:id="rId48"/>
    <p:sldLayoutId id="2147483872" r:id="rId49"/>
    <p:sldLayoutId id="2147483873" r:id="rId50"/>
    <p:sldLayoutId id="2147483874" r:id="rId51"/>
    <p:sldLayoutId id="2147483875" r:id="rId52"/>
    <p:sldLayoutId id="2147483876" r:id="rId53"/>
    <p:sldLayoutId id="2147483877" r:id="rId54"/>
    <p:sldLayoutId id="2147483878" r:id="rId55"/>
    <p:sldLayoutId id="2147483879" r:id="rId56"/>
    <p:sldLayoutId id="2147483880" r:id="rId57"/>
    <p:sldLayoutId id="2147483881" r:id="rId58"/>
    <p:sldLayoutId id="2147483882" r:id="rId59"/>
    <p:sldLayoutId id="2147483883" r:id="rId60"/>
    <p:sldLayoutId id="2147483884" r:id="rId61"/>
    <p:sldLayoutId id="2147483885" r:id="rId62"/>
    <p:sldLayoutId id="2147483886" r:id="rId63"/>
    <p:sldLayoutId id="2147483887" r:id="rId64"/>
    <p:sldLayoutId id="2147483888" r:id="rId65"/>
    <p:sldLayoutId id="2147483889" r:id="rId66"/>
    <p:sldLayoutId id="2147483890" r:id="rId67"/>
    <p:sldLayoutId id="2147483891" r:id="rId68"/>
    <p:sldLayoutId id="2147483892" r:id="rId69"/>
    <p:sldLayoutId id="2147483893" r:id="rId70"/>
    <p:sldLayoutId id="2147483894" r:id="rId71"/>
    <p:sldLayoutId id="2147483895" r:id="rId72"/>
    <p:sldLayoutId id="2147483896" r:id="rId73"/>
    <p:sldLayoutId id="2147483897" r:id="rId74"/>
    <p:sldLayoutId id="2147483898" r:id="rId75"/>
    <p:sldLayoutId id="2147483899" r:id="rId76"/>
    <p:sldLayoutId id="2147483900" r:id="rId77"/>
    <p:sldLayoutId id="2147483901" r:id="rId78"/>
    <p:sldLayoutId id="2147483902" r:id="rId79"/>
    <p:sldLayoutId id="2147483903" r:id="rId80"/>
    <p:sldLayoutId id="2147483904" r:id="rId81"/>
    <p:sldLayoutId id="2147483905" r:id="rId82"/>
    <p:sldLayoutId id="2147483906" r:id="rId8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7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1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pt-br/3/tutorial/controlflow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pt-br/3/tutorial/controlflow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7.xml"/><Relationship Id="rId5" Type="http://schemas.openxmlformats.org/officeDocument/2006/relationships/hyperlink" Target="https://docs.python.org/pt-br/3/tutorial/errors.html" TargetMode="External"/><Relationship Id="rId4" Type="http://schemas.openxmlformats.org/officeDocument/2006/relationships/hyperlink" Target="https://docs.python.org/pt-br/3/tutorial/controlflow.html#defining-functions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p291"/>
          <p:cNvSpPr txBox="1"/>
          <p:nvPr/>
        </p:nvSpPr>
        <p:spPr>
          <a:xfrm>
            <a:off x="898900" y="3595304"/>
            <a:ext cx="6814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4" name="Google Shape;3114;p291"/>
          <p:cNvSpPr txBox="1"/>
          <p:nvPr/>
        </p:nvSpPr>
        <p:spPr>
          <a:xfrm>
            <a:off x="898900" y="2830653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2: Por que usar funções e validar entradas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15" name="Google Shape;3115;p291"/>
          <p:cNvSpPr txBox="1"/>
          <p:nvPr/>
        </p:nvSpPr>
        <p:spPr>
          <a:xfrm>
            <a:off x="4306300" y="171184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21;p265">
            <a:extLst>
              <a:ext uri="{FF2B5EF4-FFF2-40B4-BE49-F238E27FC236}">
                <a16:creationId xmlns:a16="http://schemas.microsoft.com/office/drawing/2014/main" id="{88985577-DAA7-B1FB-C555-CA7AEDF047A3}"/>
              </a:ext>
            </a:extLst>
          </p:cNvPr>
          <p:cNvSpPr txBox="1"/>
          <p:nvPr/>
        </p:nvSpPr>
        <p:spPr>
          <a:xfrm>
            <a:off x="525902" y="2022383"/>
            <a:ext cx="7560796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3;p265">
            <a:extLst>
              <a:ext uri="{FF2B5EF4-FFF2-40B4-BE49-F238E27FC236}">
                <a16:creationId xmlns:a16="http://schemas.microsoft.com/office/drawing/2014/main" id="{08C4CA08-9084-EEDE-EC6C-400FC42BE0D4}"/>
              </a:ext>
            </a:extLst>
          </p:cNvPr>
          <p:cNvSpPr txBox="1"/>
          <p:nvPr/>
        </p:nvSpPr>
        <p:spPr>
          <a:xfrm>
            <a:off x="819487" y="1147883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1" name="Google Shape;2731;p26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2" name="Google Shape;2732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7" name="Google Shape;2737;p266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2738" name="Google Shape;2738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1" name="Google Shape;2751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3" name="Google Shape;2753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6" name="Google Shape;2756;p266"/>
          <p:cNvSpPr/>
          <p:nvPr/>
        </p:nvSpPr>
        <p:spPr>
          <a:xfrm>
            <a:off x="5860040" y="62685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7" name="Google Shape;2757;p266"/>
          <p:cNvCxnSpPr>
            <a:stCxn id="2756" idx="4"/>
            <a:endCxn id="2733" idx="7"/>
          </p:cNvCxnSpPr>
          <p:nvPr/>
        </p:nvCxnSpPr>
        <p:spPr>
          <a:xfrm flipH="1">
            <a:off x="6117440" y="1199252"/>
            <a:ext cx="28800" cy="5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60" name="Google Shape;2760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62" name="Google Shape;2762;p266"/>
          <p:cNvSpPr txBox="1"/>
          <p:nvPr/>
        </p:nvSpPr>
        <p:spPr>
          <a:xfrm>
            <a:off x="6510730" y="504694"/>
            <a:ext cx="2477840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3" name="Google Shape;2763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266"/>
          <p:cNvSpPr txBox="1"/>
          <p:nvPr/>
        </p:nvSpPr>
        <p:spPr>
          <a:xfrm>
            <a:off x="135519" y="1439639"/>
            <a:ext cx="1865700" cy="49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5" name="Google Shape;2765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266"/>
          <p:cNvSpPr txBox="1"/>
          <p:nvPr/>
        </p:nvSpPr>
        <p:spPr>
          <a:xfrm>
            <a:off x="2131470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  <p:sp>
        <p:nvSpPr>
          <p:cNvPr id="2767" name="Google Shape;2767;p266"/>
          <p:cNvSpPr/>
          <p:nvPr/>
        </p:nvSpPr>
        <p:spPr>
          <a:xfrm>
            <a:off x="10527188" y="3863654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8" name="Google Shape;2768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409206" y="369611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0" name="Google Shape;2770;p266"/>
          <p:cNvSpPr/>
          <p:nvPr/>
        </p:nvSpPr>
        <p:spPr>
          <a:xfrm>
            <a:off x="5919007" y="458997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1" name="Google Shape;2771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801025" y="442242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2" name="Google Shape;2772;p266"/>
          <p:cNvSpPr txBox="1"/>
          <p:nvPr/>
        </p:nvSpPr>
        <p:spPr>
          <a:xfrm>
            <a:off x="5381059" y="5235585"/>
            <a:ext cx="1839142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</a:p>
        </p:txBody>
      </p:sp>
      <p:cxnSp>
        <p:nvCxnSpPr>
          <p:cNvPr id="2773" name="Google Shape;2773;p266"/>
          <p:cNvCxnSpPr>
            <a:cxnSpLocks/>
            <a:stCxn id="2767" idx="2"/>
            <a:endCxn id="2736" idx="7"/>
          </p:cNvCxnSpPr>
          <p:nvPr/>
        </p:nvCxnSpPr>
        <p:spPr>
          <a:xfrm flipH="1">
            <a:off x="9705578" y="4149854"/>
            <a:ext cx="821610" cy="221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2773;p266">
            <a:extLst>
              <a:ext uri="{FF2B5EF4-FFF2-40B4-BE49-F238E27FC236}">
                <a16:creationId xmlns:a16="http://schemas.microsoft.com/office/drawing/2014/main" id="{78B15B8C-4C19-C458-D8F6-8DE8393AEDEE}"/>
              </a:ext>
            </a:extLst>
          </p:cNvPr>
          <p:cNvCxnSpPr>
            <a:cxnSpLocks/>
            <a:stCxn id="2746" idx="0"/>
          </p:cNvCxnSpPr>
          <p:nvPr/>
        </p:nvCxnSpPr>
        <p:spPr>
          <a:xfrm flipH="1">
            <a:off x="6393234" y="4431161"/>
            <a:ext cx="1061783" cy="36283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2772;p266">
            <a:extLst>
              <a:ext uri="{FF2B5EF4-FFF2-40B4-BE49-F238E27FC236}">
                <a16:creationId xmlns:a16="http://schemas.microsoft.com/office/drawing/2014/main" id="{8714F56A-CDBC-4383-66AD-C9F949CDECEF}"/>
              </a:ext>
            </a:extLst>
          </p:cNvPr>
          <p:cNvSpPr txBox="1"/>
          <p:nvPr/>
        </p:nvSpPr>
        <p:spPr>
          <a:xfrm>
            <a:off x="461136" y="3922715"/>
            <a:ext cx="2018821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</a:p>
        </p:txBody>
      </p:sp>
      <p:cxnSp>
        <p:nvCxnSpPr>
          <p:cNvPr id="17" name="Google Shape;2773;p266">
            <a:extLst>
              <a:ext uri="{FF2B5EF4-FFF2-40B4-BE49-F238E27FC236}">
                <a16:creationId xmlns:a16="http://schemas.microsoft.com/office/drawing/2014/main" id="{0BAFA023-7E92-B954-1B50-13C6AD7F7AAB}"/>
              </a:ext>
            </a:extLst>
          </p:cNvPr>
          <p:cNvCxnSpPr>
            <a:cxnSpLocks/>
            <a:stCxn id="2740" idx="0"/>
            <a:endCxn id="3" idx="4"/>
          </p:cNvCxnSpPr>
          <p:nvPr/>
        </p:nvCxnSpPr>
        <p:spPr>
          <a:xfrm flipV="1">
            <a:off x="2606662" y="4033560"/>
            <a:ext cx="272" cy="137258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2754;p266">
            <a:extLst>
              <a:ext uri="{FF2B5EF4-FFF2-40B4-BE49-F238E27FC236}">
                <a16:creationId xmlns:a16="http://schemas.microsoft.com/office/drawing/2014/main" id="{8AC27033-6F22-3CE2-A4A4-B18C9A7F3773}"/>
              </a:ext>
            </a:extLst>
          </p:cNvPr>
          <p:cNvSpPr/>
          <p:nvPr/>
        </p:nvSpPr>
        <p:spPr>
          <a:xfrm>
            <a:off x="2338884" y="3497460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759;p266">
            <a:extLst>
              <a:ext uri="{FF2B5EF4-FFF2-40B4-BE49-F238E27FC236}">
                <a16:creationId xmlns:a16="http://schemas.microsoft.com/office/drawing/2014/main" id="{603CC900-40C4-927D-CC30-4782674D83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192940" y="334427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758;p266">
            <a:extLst>
              <a:ext uri="{FF2B5EF4-FFF2-40B4-BE49-F238E27FC236}">
                <a16:creationId xmlns:a16="http://schemas.microsoft.com/office/drawing/2014/main" id="{F8EDC520-1644-D63D-1E70-7192644745BF}"/>
              </a:ext>
            </a:extLst>
          </p:cNvPr>
          <p:cNvSpPr txBox="1"/>
          <p:nvPr/>
        </p:nvSpPr>
        <p:spPr>
          <a:xfrm>
            <a:off x="473244" y="3636888"/>
            <a:ext cx="1839142" cy="27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69;p266">
            <a:extLst>
              <a:ext uri="{FF2B5EF4-FFF2-40B4-BE49-F238E27FC236}">
                <a16:creationId xmlns:a16="http://schemas.microsoft.com/office/drawing/2014/main" id="{17491B49-AB29-FCFE-B171-6CBC7FD02F19}"/>
              </a:ext>
            </a:extLst>
          </p:cNvPr>
          <p:cNvSpPr txBox="1"/>
          <p:nvPr/>
        </p:nvSpPr>
        <p:spPr>
          <a:xfrm>
            <a:off x="10210698" y="4529690"/>
            <a:ext cx="1765515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 e desafios no terminal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576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9" name="Google Shape;3169;p293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170" name="Google Shape;3170;p293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1" name="Google Shape;3171;p293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2" name="Google Shape;3172;p293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73" name="Google Shape;3173;p293"/>
          <p:cNvSpPr txBox="1"/>
          <p:nvPr/>
        </p:nvSpPr>
        <p:spPr>
          <a:xfrm>
            <a:off x="3331829" y="5303697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SISANO1C1B4S21A2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293"/>
          <p:cNvSpPr txBox="1"/>
          <p:nvPr/>
        </p:nvSpPr>
        <p:spPr>
          <a:xfrm>
            <a:off x="3331829" y="3203825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8" name="Google Shape;3178;p293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9" name="Google Shape;3179;p293"/>
          <p:cNvSpPr txBox="1"/>
          <p:nvPr/>
        </p:nvSpPr>
        <p:spPr>
          <a:xfrm>
            <a:off x="3331829" y="4361163"/>
            <a:ext cx="44877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2: Por que usar funções e validar entradas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63;p266">
            <a:extLst>
              <a:ext uri="{FF2B5EF4-FFF2-40B4-BE49-F238E27FC236}">
                <a16:creationId xmlns:a16="http://schemas.microsoft.com/office/drawing/2014/main" id="{C98AD82C-5911-8F1E-6A41-E3C8DF4717CD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764;p266">
            <a:extLst>
              <a:ext uri="{FF2B5EF4-FFF2-40B4-BE49-F238E27FC236}">
                <a16:creationId xmlns:a16="http://schemas.microsoft.com/office/drawing/2014/main" id="{3BB60B03-6A47-F632-A289-5998CDC693A0}"/>
              </a:ext>
            </a:extLst>
          </p:cNvPr>
          <p:cNvSpPr txBox="1"/>
          <p:nvPr/>
        </p:nvSpPr>
        <p:spPr>
          <a:xfrm>
            <a:off x="135519" y="1439639"/>
            <a:ext cx="1865700" cy="49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2765;p266">
            <a:extLst>
              <a:ext uri="{FF2B5EF4-FFF2-40B4-BE49-F238E27FC236}">
                <a16:creationId xmlns:a16="http://schemas.microsoft.com/office/drawing/2014/main" id="{BCD2EEC3-4098-54AC-E9B1-51BF06F6266A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66;p266">
            <a:extLst>
              <a:ext uri="{FF2B5EF4-FFF2-40B4-BE49-F238E27FC236}">
                <a16:creationId xmlns:a16="http://schemas.microsoft.com/office/drawing/2014/main" id="{4A7486A0-E678-762B-0218-0FFBC485D1A2}"/>
              </a:ext>
            </a:extLst>
          </p:cNvPr>
          <p:cNvSpPr txBox="1"/>
          <p:nvPr/>
        </p:nvSpPr>
        <p:spPr>
          <a:xfrm>
            <a:off x="2131470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p29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Analisar como funções e validações contribuem para a organização, legibilidade e confiabilidade de programas em terminal.</a:t>
            </a:r>
            <a:endParaRPr dirty="0"/>
          </a:p>
        </p:txBody>
      </p:sp>
      <p:sp>
        <p:nvSpPr>
          <p:cNvPr id="3190" name="Google Shape;3190;p29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Aplicar funções, estruturas de decisão e repetição na construção de programas com menu e fluxo de interação textual.</a:t>
            </a:r>
            <a:endParaRPr/>
          </a:p>
        </p:txBody>
      </p:sp>
      <p:sp>
        <p:nvSpPr>
          <p:cNvPr id="3191" name="Google Shape;3191;p294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Persistir na decomposição de problemas em etapas menores, mantendo organização e clareza ao planejar soluções algorítmicas.</a:t>
            </a:r>
            <a:endParaRPr dirty="0"/>
          </a:p>
        </p:txBody>
      </p:sp>
      <p:sp>
        <p:nvSpPr>
          <p:cNvPr id="3192" name="Google Shape;3192;p294"/>
          <p:cNvSpPr txBox="1">
            <a:spLocks noGrp="1"/>
          </p:cNvSpPr>
          <p:nvPr>
            <p:ph type="body" idx="4"/>
          </p:nvPr>
        </p:nvSpPr>
        <p:spPr>
          <a:xfrm>
            <a:off x="1467909" y="3429000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p295"/>
          <p:cNvSpPr txBox="1">
            <a:spLocks noGrp="1"/>
          </p:cNvSpPr>
          <p:nvPr>
            <p:ph type="body" idx="1"/>
          </p:nvPr>
        </p:nvSpPr>
        <p:spPr>
          <a:xfrm>
            <a:off x="3198637" y="1831907"/>
            <a:ext cx="4743551" cy="158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0000" indent="-342900">
              <a:spcAft>
                <a:spcPts val="1200"/>
              </a:spcAft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</a:rPr>
              <a:t>exibir um menu;</a:t>
            </a:r>
            <a:endParaRPr sz="2000" dirty="0">
              <a:solidFill>
                <a:schemeClr val="dk1"/>
              </a:solidFill>
            </a:endParaRPr>
          </a:p>
          <a:p>
            <a:pPr marL="360000" indent="-342900">
              <a:spcAft>
                <a:spcPts val="1200"/>
              </a:spcAft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</a:rPr>
              <a:t>receber a escolha do usuário;</a:t>
            </a:r>
            <a:endParaRPr sz="2000" dirty="0">
              <a:solidFill>
                <a:schemeClr val="dk1"/>
              </a:solidFill>
            </a:endParaRPr>
          </a:p>
          <a:p>
            <a:pPr marL="360000" indent="-342900">
              <a:spcAft>
                <a:spcPts val="1200"/>
              </a:spcAft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</a:rPr>
              <a:t>decidir qual ação executar;</a:t>
            </a:r>
            <a:endParaRPr sz="2000" dirty="0">
              <a:solidFill>
                <a:schemeClr val="dk1"/>
              </a:solidFill>
            </a:endParaRPr>
          </a:p>
          <a:p>
            <a:pPr marL="360000" indent="-342900">
              <a:spcAft>
                <a:spcPts val="1200"/>
              </a:spcAft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</a:rPr>
              <a:t>apresentar uma resposta.</a:t>
            </a:r>
            <a:endParaRPr sz="2000" dirty="0">
              <a:solidFill>
                <a:schemeClr val="dk1"/>
              </a:solidFill>
            </a:endParaRPr>
          </a:p>
        </p:txBody>
      </p:sp>
      <p:grpSp>
        <p:nvGrpSpPr>
          <p:cNvPr id="3198" name="Google Shape;3198;p295"/>
          <p:cNvGrpSpPr/>
          <p:nvPr/>
        </p:nvGrpSpPr>
        <p:grpSpPr>
          <a:xfrm>
            <a:off x="11470851" y="-15180"/>
            <a:ext cx="721836" cy="732801"/>
            <a:chOff x="17205424" y="-22770"/>
            <a:chExt cx="1082700" cy="1099146"/>
          </a:xfrm>
        </p:grpSpPr>
        <p:sp>
          <p:nvSpPr>
            <p:cNvPr id="3199" name="Google Shape;3199;p295"/>
            <p:cNvSpPr/>
            <p:nvPr/>
          </p:nvSpPr>
          <p:spPr>
            <a:xfrm flipH="1">
              <a:off x="17208525" y="0"/>
              <a:ext cx="1079474" cy="1076376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AC2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0" name="Google Shape;3200;p295"/>
            <p:cNvGrpSpPr/>
            <p:nvPr/>
          </p:nvGrpSpPr>
          <p:grpSpPr>
            <a:xfrm>
              <a:off x="17492825" y="308532"/>
              <a:ext cx="573896" cy="683969"/>
              <a:chOff x="16810081" y="921861"/>
              <a:chExt cx="743774" cy="886429"/>
            </a:xfrm>
          </p:grpSpPr>
          <p:grpSp>
            <p:nvGrpSpPr>
              <p:cNvPr id="3201" name="Google Shape;3201;p295"/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3202" name="Google Shape;3202;p295"/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3" name="Google Shape;3203;p295"/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4" name="Google Shape;3204;p295"/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5" name="Google Shape;3205;p295"/>
                <p:cNvSpPr/>
                <p:nvPr/>
              </p:nvSpPr>
              <p:spPr>
                <a:xfrm>
                  <a:off x="16866377" y="1660872"/>
                  <a:ext cx="26860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6" name="Google Shape;3206;p295"/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7" name="Google Shape;3207;p295"/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8" name="Google Shape;3208;p295"/>
              <p:cNvGrpSpPr/>
              <p:nvPr/>
            </p:nvGrpSpPr>
            <p:grpSpPr>
              <a:xfrm>
                <a:off x="16810081" y="921861"/>
                <a:ext cx="743774" cy="512573"/>
                <a:chOff x="16933626" y="782036"/>
                <a:chExt cx="743774" cy="512573"/>
              </a:xfrm>
            </p:grpSpPr>
            <p:sp>
              <p:nvSpPr>
                <p:cNvPr id="3209" name="Google Shape;3209;p295"/>
                <p:cNvSpPr/>
                <p:nvPr/>
              </p:nvSpPr>
              <p:spPr>
                <a:xfrm>
                  <a:off x="16933626" y="782036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0" name="Google Shape;3210;p295"/>
                <p:cNvSpPr/>
                <p:nvPr/>
              </p:nvSpPr>
              <p:spPr>
                <a:xfrm>
                  <a:off x="17201150" y="865984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211" name="Google Shape;3211;p295"/>
            <p:cNvSpPr txBox="1"/>
            <p:nvPr/>
          </p:nvSpPr>
          <p:spPr>
            <a:xfrm>
              <a:off x="17205424" y="-22770"/>
              <a:ext cx="1082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50" rIns="60950" bIns="30450" anchor="t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pt-BR" sz="933" b="1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07000"/>
                </a:lnSpc>
                <a:spcBef>
                  <a:spcPts val="715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1333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212" name="Google Shape;3212;p295"/>
          <p:cNvSpPr/>
          <p:nvPr/>
        </p:nvSpPr>
        <p:spPr>
          <a:xfrm>
            <a:off x="7494767" y="3555262"/>
            <a:ext cx="1387" cy="11666"/>
          </a:xfrm>
          <a:custGeom>
            <a:avLst/>
            <a:gdLst/>
            <a:ahLst/>
            <a:cxnLst/>
            <a:rect l="l" t="t" r="r" b="b"/>
            <a:pathLst>
              <a:path w="2078" h="17477" extrusionOk="0">
                <a:moveTo>
                  <a:pt x="1044" y="0"/>
                </a:moveTo>
                <a:cubicBezTo>
                  <a:pt x="16" y="5826"/>
                  <a:pt x="-670" y="11651"/>
                  <a:pt x="1044" y="17477"/>
                </a:cubicBezTo>
                <a:cubicBezTo>
                  <a:pt x="2186" y="11651"/>
                  <a:pt x="2643" y="5826"/>
                  <a:pt x="1044" y="0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3" name="Google Shape;3213;p295"/>
          <p:cNvSpPr/>
          <p:nvPr/>
        </p:nvSpPr>
        <p:spPr>
          <a:xfrm>
            <a:off x="7310524" y="3563486"/>
            <a:ext cx="1491" cy="2287"/>
          </a:xfrm>
          <a:custGeom>
            <a:avLst/>
            <a:gdLst/>
            <a:ahLst/>
            <a:cxnLst/>
            <a:rect l="l" t="t" r="r" b="b"/>
            <a:pathLst>
              <a:path w="2233" h="3426" extrusionOk="0">
                <a:moveTo>
                  <a:pt x="1085" y="3427"/>
                </a:moveTo>
                <a:cubicBezTo>
                  <a:pt x="2799" y="2170"/>
                  <a:pt x="2456" y="1028"/>
                  <a:pt x="971" y="0"/>
                </a:cubicBezTo>
                <a:cubicBezTo>
                  <a:pt x="-286" y="1257"/>
                  <a:pt x="-400" y="2285"/>
                  <a:pt x="1085" y="3427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4" name="Google Shape;3214;p295"/>
          <p:cNvSpPr/>
          <p:nvPr/>
        </p:nvSpPr>
        <p:spPr>
          <a:xfrm>
            <a:off x="7493559" y="3574186"/>
            <a:ext cx="1328" cy="1249"/>
          </a:xfrm>
          <a:custGeom>
            <a:avLst/>
            <a:gdLst/>
            <a:ahLst/>
            <a:cxnLst/>
            <a:rect l="l" t="t" r="r" b="b"/>
            <a:pathLst>
              <a:path w="1990" h="1871" extrusionOk="0">
                <a:moveTo>
                  <a:pt x="1942" y="56"/>
                </a:moveTo>
                <a:cubicBezTo>
                  <a:pt x="685" y="-172"/>
                  <a:pt x="0" y="285"/>
                  <a:pt x="0" y="1655"/>
                </a:cubicBezTo>
                <a:cubicBezTo>
                  <a:pt x="1599" y="2226"/>
                  <a:pt x="2170" y="1655"/>
                  <a:pt x="1942" y="56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5" name="Google Shape;3215;p2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8315" y="1333955"/>
            <a:ext cx="3730907" cy="299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6" name="Google Shape;3216;p295"/>
          <p:cNvSpPr txBox="1"/>
          <p:nvPr/>
        </p:nvSpPr>
        <p:spPr>
          <a:xfrm>
            <a:off x="8268315" y="4328630"/>
            <a:ext cx="3290913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7" name="Google Shape;3217;p295"/>
          <p:cNvSpPr txBox="1"/>
          <p:nvPr/>
        </p:nvSpPr>
        <p:spPr>
          <a:xfrm>
            <a:off x="3181249" y="4870556"/>
            <a:ext cx="78549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Blip>
                <a:blip r:embed="rId3"/>
              </a:buBlip>
            </a:pPr>
            <a:r>
              <a:rPr lang="pt-BR" sz="2000" b="1" dirty="0">
                <a:latin typeface="Poppins"/>
                <a:ea typeface="Poppins"/>
                <a:cs typeface="Poppins"/>
                <a:sym typeface="Poppins"/>
              </a:rPr>
              <a:t>Esse programa funciona. Mas, se precisássemos adicionar várias novas opções ao menu, ele continuaria fácil de organizar e modificar?</a:t>
            </a:r>
            <a:endParaRPr sz="20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F8A93D-84B6-7734-C800-03C808403280}"/>
              </a:ext>
            </a:extLst>
          </p:cNvPr>
          <p:cNvSpPr txBox="1"/>
          <p:nvPr/>
        </p:nvSpPr>
        <p:spPr>
          <a:xfrm>
            <a:off x="3181249" y="1261154"/>
            <a:ext cx="49986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Construímos um programa capaz de: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BE00FB-321C-FD2B-A1F9-4CD73E76C12B}"/>
              </a:ext>
            </a:extLst>
          </p:cNvPr>
          <p:cNvSpPr txBox="1"/>
          <p:nvPr/>
        </p:nvSpPr>
        <p:spPr>
          <a:xfrm>
            <a:off x="3198637" y="4399538"/>
            <a:ext cx="4517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Observe o programa novamente.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Google Shape;3222;p296"/>
          <p:cNvSpPr txBox="1">
            <a:spLocks noGrp="1"/>
          </p:cNvSpPr>
          <p:nvPr>
            <p:ph type="body" idx="1"/>
          </p:nvPr>
        </p:nvSpPr>
        <p:spPr>
          <a:xfrm>
            <a:off x="3566763" y="1887525"/>
            <a:ext cx="78549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À medida que um programa cresce, copiar trechos de código e concentrar tudo em um único bloco dificulta a leitura, a manutenção e a identificação de erros.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6" name="Google Shape;3226;p296"/>
          <p:cNvSpPr txBox="1"/>
          <p:nvPr/>
        </p:nvSpPr>
        <p:spPr>
          <a:xfrm>
            <a:off x="3599411" y="3837185"/>
            <a:ext cx="78549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latin typeface="Poppins"/>
                <a:ea typeface="Poppins"/>
                <a:cs typeface="Poppins"/>
                <a:sym typeface="Poppins"/>
              </a:rPr>
              <a:t>O que poderíamos fazer para deixar esse programa mais organizado sem mudar seu funcionamento?</a:t>
            </a:r>
            <a:endParaRPr sz="22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41AB4D4-28DD-F0D2-1E56-F61354204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730" y="3020815"/>
            <a:ext cx="3496733" cy="7281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BEECB86-D879-AEE6-D04B-A9A470A2A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713" y="3088884"/>
            <a:ext cx="618067" cy="56726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16A1F17-7E0F-D6BC-F68A-F39DA4401610}"/>
              </a:ext>
            </a:extLst>
          </p:cNvPr>
          <p:cNvSpPr txBox="1"/>
          <p:nvPr/>
        </p:nvSpPr>
        <p:spPr>
          <a:xfrm>
            <a:off x="8585060" y="3234453"/>
            <a:ext cx="2384764" cy="21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l"/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COM SUAS PALAVRAS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p297"/>
          <p:cNvSpPr txBox="1">
            <a:spLocks noGrp="1"/>
          </p:cNvSpPr>
          <p:nvPr>
            <p:ph type="body" idx="1"/>
          </p:nvPr>
        </p:nvSpPr>
        <p:spPr>
          <a:xfrm>
            <a:off x="2701429" y="87290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Funções: organizando o programa</a:t>
            </a:r>
            <a:endParaRPr sz="3200" dirty="0"/>
          </a:p>
        </p:txBody>
      </p:sp>
      <p:sp>
        <p:nvSpPr>
          <p:cNvPr id="3236" name="Google Shape;3236;p297"/>
          <p:cNvSpPr txBox="1"/>
          <p:nvPr/>
        </p:nvSpPr>
        <p:spPr>
          <a:xfrm>
            <a:off x="2701430" y="1762703"/>
            <a:ext cx="5193874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buNone/>
            </a:pPr>
            <a:r>
              <a:rPr lang="pt-BR" sz="2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lang="pt-BR" sz="2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função</a:t>
            </a:r>
            <a:r>
              <a:rPr lang="pt-BR" sz="2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reúne instruções que executam uma mesma tarefa.</a:t>
            </a:r>
            <a:endParaRPr sz="2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buNone/>
            </a:pPr>
            <a:r>
              <a:rPr lang="pt-BR" sz="2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vez de escrever todo o programa em um único bloco, podemos </a:t>
            </a:r>
            <a:r>
              <a:rPr lang="pt-BR" sz="21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separar cada parte em funções</a:t>
            </a:r>
            <a:r>
              <a:rPr lang="pt-BR" sz="2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37" name="Google Shape;3237;p2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523" y="1847607"/>
            <a:ext cx="4038659" cy="2149013"/>
          </a:xfrm>
          <a:prstGeom prst="rect">
            <a:avLst/>
          </a:prstGeom>
          <a:noFill/>
          <a:ln>
            <a:noFill/>
          </a:ln>
        </p:spPr>
      </p:pic>
      <p:sp>
        <p:nvSpPr>
          <p:cNvPr id="3238" name="Google Shape;3238;p297"/>
          <p:cNvSpPr/>
          <p:nvPr/>
        </p:nvSpPr>
        <p:spPr>
          <a:xfrm>
            <a:off x="2778104" y="4751177"/>
            <a:ext cx="5854619" cy="1295661"/>
          </a:xfrm>
          <a:prstGeom prst="rect">
            <a:avLst/>
          </a:prstGeom>
          <a:solidFill>
            <a:srgbClr val="263B4B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9" name="Google Shape;3239;p297"/>
          <p:cNvSpPr/>
          <p:nvPr/>
        </p:nvSpPr>
        <p:spPr>
          <a:xfrm>
            <a:off x="2926593" y="4637282"/>
            <a:ext cx="868639" cy="903061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0" name="Google Shape;3240;p2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7886" y="4783077"/>
            <a:ext cx="548441" cy="526088"/>
          </a:xfrm>
          <a:prstGeom prst="rect">
            <a:avLst/>
          </a:prstGeom>
          <a:noFill/>
          <a:ln>
            <a:noFill/>
          </a:ln>
        </p:spPr>
      </p:pic>
      <p:sp>
        <p:nvSpPr>
          <p:cNvPr id="3241" name="Google Shape;3241;p297"/>
          <p:cNvSpPr txBox="1"/>
          <p:nvPr/>
        </p:nvSpPr>
        <p:spPr>
          <a:xfrm>
            <a:off x="4016611" y="4857329"/>
            <a:ext cx="4527621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Tome nota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2" name="Google Shape;3242;p297"/>
          <p:cNvSpPr txBox="1"/>
          <p:nvPr/>
        </p:nvSpPr>
        <p:spPr>
          <a:xfrm>
            <a:off x="4016604" y="5296745"/>
            <a:ext cx="439980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Funções ajudam a organizar o código e facilitam sua reutilização.</a:t>
            </a:r>
            <a:endParaRPr sz="1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3" name="Google Shape;3243;p297"/>
          <p:cNvSpPr txBox="1"/>
          <p:nvPr/>
        </p:nvSpPr>
        <p:spPr>
          <a:xfrm>
            <a:off x="7895304" y="4066152"/>
            <a:ext cx="3429921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p298"/>
          <p:cNvSpPr txBox="1">
            <a:spLocks noGrp="1"/>
          </p:cNvSpPr>
          <p:nvPr>
            <p:ph type="body" idx="1"/>
          </p:nvPr>
        </p:nvSpPr>
        <p:spPr>
          <a:xfrm>
            <a:off x="2701428" y="853857"/>
            <a:ext cx="9128621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Cada função tem uma responsabilidade</a:t>
            </a:r>
            <a:endParaRPr sz="3200" dirty="0"/>
          </a:p>
        </p:txBody>
      </p:sp>
      <p:sp>
        <p:nvSpPr>
          <p:cNvPr id="3250" name="Google Shape;3250;p298"/>
          <p:cNvSpPr txBox="1"/>
          <p:nvPr/>
        </p:nvSpPr>
        <p:spPr>
          <a:xfrm>
            <a:off x="2701428" y="1797815"/>
            <a:ext cx="8297487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programas maiores, diferentes tarefas podem ser organizadas em funções específicas.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função executa uma única responsabilidade, tornando o código mais fácil de entender e modificar.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36;p4">
            <a:extLst>
              <a:ext uri="{FF2B5EF4-FFF2-40B4-BE49-F238E27FC236}">
                <a16:creationId xmlns:a16="http://schemas.microsoft.com/office/drawing/2014/main" id="{0B7C8631-F60E-46AC-6D58-C76529EFA847}"/>
              </a:ext>
            </a:extLst>
          </p:cNvPr>
          <p:cNvSpPr txBox="1"/>
          <p:nvPr/>
        </p:nvSpPr>
        <p:spPr>
          <a:xfrm>
            <a:off x="2791799" y="4024714"/>
            <a:ext cx="6300952" cy="1801220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/>
            <a:endParaRPr lang="pt-BR"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spcBef>
                <a:spcPts val="600"/>
              </a:spcBef>
            </a:pP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b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função </a:t>
            </a:r>
            <a:r>
              <a:rPr lang="pt-BR" sz="1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mostrar_menu</a:t>
            </a: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responsável apenas por exibir o menu. Se for necessário alterar uma opção, a mudança será feita em um único lugar.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B838C84-487B-E90F-4D3E-42B79C16E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280" y="3660647"/>
            <a:ext cx="3471333" cy="72813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97654113-31B5-8F06-2DEF-AAAD7A7D7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1663" y="3749056"/>
            <a:ext cx="499533" cy="4826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5B6F5D6-56E6-EFE8-F93C-89F77F5394CA}"/>
              </a:ext>
            </a:extLst>
          </p:cNvPr>
          <p:cNvSpPr txBox="1"/>
          <p:nvPr/>
        </p:nvSpPr>
        <p:spPr>
          <a:xfrm>
            <a:off x="3420262" y="3886541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DESTAQUE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p299"/>
          <p:cNvSpPr txBox="1">
            <a:spLocks noGrp="1"/>
          </p:cNvSpPr>
          <p:nvPr>
            <p:ph type="body" idx="1"/>
          </p:nvPr>
        </p:nvSpPr>
        <p:spPr>
          <a:xfrm>
            <a:off x="2701428" y="844332"/>
            <a:ext cx="9004797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 menu pode chamar funções diferentes</a:t>
            </a:r>
            <a:endParaRPr sz="3200" dirty="0"/>
          </a:p>
        </p:txBody>
      </p:sp>
      <p:sp>
        <p:nvSpPr>
          <p:cNvPr id="3257" name="Google Shape;3257;p299"/>
          <p:cNvSpPr txBox="1"/>
          <p:nvPr/>
        </p:nvSpPr>
        <p:spPr>
          <a:xfrm>
            <a:off x="2701428" y="1804162"/>
            <a:ext cx="5334504" cy="421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 de organizar o programa em funções, o menu pode chamar uma função diferente para cada opção escolhida pelo usuário.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b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escolher a opção 1, o programa chama a função </a:t>
            </a:r>
            <a:r>
              <a:rPr lang="pt-BR" sz="2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mostrar_mensagem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(). </a:t>
            </a:r>
          </a:p>
          <a:p>
            <a:pPr marL="0" lvl="0" indent="0" algn="l" rtl="0">
              <a:spcBef>
                <a:spcPts val="1200"/>
              </a:spcBef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programas maiores, cada opção do menu pode chamar uma função diferente.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58" name="Google Shape;3258;p2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4727" y="1970134"/>
            <a:ext cx="3863912" cy="3636786"/>
          </a:xfrm>
          <a:prstGeom prst="rect">
            <a:avLst/>
          </a:prstGeom>
          <a:noFill/>
          <a:ln>
            <a:noFill/>
          </a:ln>
        </p:spPr>
      </p:pic>
      <p:sp>
        <p:nvSpPr>
          <p:cNvPr id="3259" name="Google Shape;3259;p299"/>
          <p:cNvSpPr txBox="1"/>
          <p:nvPr/>
        </p:nvSpPr>
        <p:spPr>
          <a:xfrm>
            <a:off x="8074032" y="5606920"/>
            <a:ext cx="3863912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5" name="Google Shape;3265;p300"/>
          <p:cNvSpPr txBox="1">
            <a:spLocks noGrp="1"/>
          </p:cNvSpPr>
          <p:nvPr>
            <p:ph type="body" idx="1"/>
          </p:nvPr>
        </p:nvSpPr>
        <p:spPr>
          <a:xfrm>
            <a:off x="2701428" y="831117"/>
            <a:ext cx="8512200" cy="609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Identificação de entradas inválidas</a:t>
            </a:r>
            <a:endParaRPr sz="3200" dirty="0"/>
          </a:p>
        </p:txBody>
      </p:sp>
      <p:sp>
        <p:nvSpPr>
          <p:cNvPr id="3266" name="Google Shape;3266;p300"/>
          <p:cNvSpPr txBox="1"/>
          <p:nvPr/>
        </p:nvSpPr>
        <p:spPr>
          <a:xfrm>
            <a:off x="2701428" y="1822477"/>
            <a:ext cx="4775135" cy="34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Nosso programa já está mais organizado com o uso de funções. Porém, ainda existe um problema: ele aceita qualquer valor digitado pelo usuário.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o usuário digitar uma opção que não existe, o programa continuará sua execução sem orientar o usuário.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67" name="Google Shape;3267;p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8775" y="1938082"/>
            <a:ext cx="38671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8" name="Google Shape;3268;p3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8773" y="3948373"/>
            <a:ext cx="3867150" cy="1131395"/>
          </a:xfrm>
          <a:prstGeom prst="rect">
            <a:avLst/>
          </a:prstGeom>
          <a:noFill/>
          <a:ln>
            <a:noFill/>
          </a:ln>
        </p:spPr>
      </p:pic>
      <p:sp>
        <p:nvSpPr>
          <p:cNvPr id="3269" name="Google Shape;3269;p300"/>
          <p:cNvSpPr txBox="1"/>
          <p:nvPr/>
        </p:nvSpPr>
        <p:spPr>
          <a:xfrm>
            <a:off x="7988773" y="3586419"/>
            <a:ext cx="112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latin typeface="Poppins"/>
                <a:ea typeface="Poppins"/>
                <a:cs typeface="Poppins"/>
                <a:sym typeface="Poppins"/>
              </a:rPr>
              <a:t>Terminal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259;p299">
            <a:extLst>
              <a:ext uri="{FF2B5EF4-FFF2-40B4-BE49-F238E27FC236}">
                <a16:creationId xmlns:a16="http://schemas.microsoft.com/office/drawing/2014/main" id="{BF9CFAFF-31B5-A1E8-F9A3-A0C380428D14}"/>
              </a:ext>
            </a:extLst>
          </p:cNvPr>
          <p:cNvSpPr txBox="1"/>
          <p:nvPr/>
        </p:nvSpPr>
        <p:spPr>
          <a:xfrm>
            <a:off x="7884000" y="5079768"/>
            <a:ext cx="386714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Imagens: 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0103C52-C298-9E1B-D0EA-47B464429515}"/>
              </a:ext>
            </a:extLst>
          </p:cNvPr>
          <p:cNvSpPr txBox="1"/>
          <p:nvPr/>
        </p:nvSpPr>
        <p:spPr>
          <a:xfrm>
            <a:off x="2395815" y="2922058"/>
            <a:ext cx="87114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latin typeface="Poppins"/>
                <a:ea typeface="Poppins"/>
                <a:cs typeface="Poppins"/>
                <a:sym typeface="Poppins"/>
              </a:rPr>
              <a:t>Como impedir que o usuário escolha uma opção inválida?</a:t>
            </a:r>
            <a:endParaRPr lang="pt-BR" sz="14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A236106-F0FD-7AE1-BAAE-30281E8A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560" y="1846937"/>
            <a:ext cx="3496733" cy="7281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62850B9-1548-1405-068F-A707CB3A5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543" y="1915006"/>
            <a:ext cx="618067" cy="5672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7F740C7-17DB-FC8E-2B7B-1972F3ADD3CA}"/>
              </a:ext>
            </a:extLst>
          </p:cNvPr>
          <p:cNvSpPr txBox="1"/>
          <p:nvPr/>
        </p:nvSpPr>
        <p:spPr>
          <a:xfrm>
            <a:off x="8709890" y="2060575"/>
            <a:ext cx="2384764" cy="21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l"/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COM SUAS PALAVRAS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302"/>
          <p:cNvSpPr txBox="1">
            <a:spLocks noGrp="1"/>
          </p:cNvSpPr>
          <p:nvPr>
            <p:ph type="body" idx="1"/>
          </p:nvPr>
        </p:nvSpPr>
        <p:spPr>
          <a:xfrm>
            <a:off x="2701428" y="824974"/>
            <a:ext cx="92541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Validação: verificando a entrada do usuário</a:t>
            </a:r>
            <a:endParaRPr sz="3100" dirty="0"/>
          </a:p>
        </p:txBody>
      </p:sp>
      <p:sp>
        <p:nvSpPr>
          <p:cNvPr id="3285" name="Google Shape;3285;p302"/>
          <p:cNvSpPr txBox="1"/>
          <p:nvPr/>
        </p:nvSpPr>
        <p:spPr>
          <a:xfrm>
            <a:off x="2701427" y="1781307"/>
            <a:ext cx="5200235" cy="260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buNone/>
            </a:pPr>
            <a:r>
              <a:rPr lang="pt-BR" sz="2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executar uma ação, o programa pode verificar se a opção informada pelo usuário é válida.</a:t>
            </a:r>
            <a:endParaRPr sz="2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buNone/>
            </a:pPr>
            <a:r>
              <a:rPr lang="pt-BR" sz="2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Essa verificação evita comportamentos inesperados e orienta o usuário quando uma opção inexistente é informada.</a:t>
            </a:r>
            <a:endParaRPr sz="2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86" name="Google Shape;3286;p3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0251" y="1729438"/>
            <a:ext cx="4097226" cy="27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7" name="Google Shape;3287;p302"/>
          <p:cNvSpPr/>
          <p:nvPr/>
        </p:nvSpPr>
        <p:spPr>
          <a:xfrm>
            <a:off x="2701427" y="4952471"/>
            <a:ext cx="7828864" cy="1248900"/>
          </a:xfrm>
          <a:prstGeom prst="rect">
            <a:avLst/>
          </a:prstGeom>
          <a:solidFill>
            <a:srgbClr val="263B4B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302"/>
          <p:cNvSpPr/>
          <p:nvPr/>
        </p:nvSpPr>
        <p:spPr>
          <a:xfrm>
            <a:off x="2849916" y="4838573"/>
            <a:ext cx="868639" cy="903061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9" name="Google Shape;3289;p3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1209" y="4984368"/>
            <a:ext cx="548441" cy="5260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0" name="Google Shape;3290;p302"/>
          <p:cNvSpPr txBox="1"/>
          <p:nvPr/>
        </p:nvSpPr>
        <p:spPr>
          <a:xfrm>
            <a:off x="3939934" y="5058620"/>
            <a:ext cx="67707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Tome nota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302"/>
          <p:cNvSpPr txBox="1"/>
          <p:nvPr/>
        </p:nvSpPr>
        <p:spPr>
          <a:xfrm>
            <a:off x="3939927" y="5498046"/>
            <a:ext cx="6490003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Validar a entrada ajuda a tornar o programa mais confiável e evita erros causados por informações inesperadas.</a:t>
            </a:r>
            <a:endParaRPr sz="1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259;p299">
            <a:extLst>
              <a:ext uri="{FF2B5EF4-FFF2-40B4-BE49-F238E27FC236}">
                <a16:creationId xmlns:a16="http://schemas.microsoft.com/office/drawing/2014/main" id="{A0C82093-DF23-B55B-ED4A-8B706CE8015B}"/>
              </a:ext>
            </a:extLst>
          </p:cNvPr>
          <p:cNvSpPr txBox="1"/>
          <p:nvPr/>
        </p:nvSpPr>
        <p:spPr>
          <a:xfrm>
            <a:off x="7901663" y="4429281"/>
            <a:ext cx="4115814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8E0A8E0-F62A-94A8-1222-51F1F95015A3}"/>
              </a:ext>
            </a:extLst>
          </p:cNvPr>
          <p:cNvSpPr txBox="1"/>
          <p:nvPr/>
        </p:nvSpPr>
        <p:spPr>
          <a:xfrm>
            <a:off x="3047999" y="2882376"/>
            <a:ext cx="71532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latin typeface="Poppins"/>
                <a:ea typeface="Poppins"/>
                <a:cs typeface="Poppins"/>
                <a:sym typeface="Poppins"/>
              </a:rPr>
              <a:t>Por que um programa organizado em funções também precisa validar a entrada do usuário?</a:t>
            </a:r>
            <a:endParaRPr lang="pt-BR" sz="14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575590C-0CAC-BE90-76A3-AC371F322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60" y="1911461"/>
            <a:ext cx="3496733" cy="7281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0EE2ECA-5C64-4B26-2969-F0B54CF70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921" y="1964483"/>
            <a:ext cx="558800" cy="5588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91B5A98-BCFB-3BD2-99E2-F59451ED2A08}"/>
              </a:ext>
            </a:extLst>
          </p:cNvPr>
          <p:cNvSpPr txBox="1"/>
          <p:nvPr/>
        </p:nvSpPr>
        <p:spPr>
          <a:xfrm>
            <a:off x="7476805" y="2141262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l"/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TODO MUNDO ESCREVE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Google Shape;3306;p304"/>
          <p:cNvSpPr txBox="1">
            <a:spLocks noGrp="1"/>
          </p:cNvSpPr>
          <p:nvPr>
            <p:ph type="body" idx="1"/>
          </p:nvPr>
        </p:nvSpPr>
        <p:spPr>
          <a:xfrm>
            <a:off x="2701428" y="809790"/>
            <a:ext cx="7271247" cy="99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Fluxograma do programa com validação de entrada</a:t>
            </a:r>
            <a:endParaRPr sz="3200" dirty="0"/>
          </a:p>
        </p:txBody>
      </p:sp>
      <p:sp>
        <p:nvSpPr>
          <p:cNvPr id="3307" name="Google Shape;3307;p304"/>
          <p:cNvSpPr txBox="1"/>
          <p:nvPr/>
        </p:nvSpPr>
        <p:spPr>
          <a:xfrm>
            <a:off x="3854245" y="5915175"/>
            <a:ext cx="546765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08" name="Google Shape;3308;p304" title="ChatGPT Image 7 de ago. de 2026, 00_51_40.png"/>
          <p:cNvPicPr preferRelativeResize="0"/>
          <p:nvPr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38894" y="1879016"/>
            <a:ext cx="6196314" cy="3926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305"/>
          <p:cNvSpPr txBox="1"/>
          <p:nvPr/>
        </p:nvSpPr>
        <p:spPr>
          <a:xfrm>
            <a:off x="1625600" y="1295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4" name="Google Shape;3314;p305"/>
          <p:cNvSpPr txBox="1"/>
          <p:nvPr/>
        </p:nvSpPr>
        <p:spPr>
          <a:xfrm>
            <a:off x="723900" y="125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5" name="Google Shape;3315;p305"/>
          <p:cNvSpPr txBox="1"/>
          <p:nvPr/>
        </p:nvSpPr>
        <p:spPr>
          <a:xfrm>
            <a:off x="1054100" y="14859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8" name="Google Shape;3318;p305"/>
          <p:cNvSpPr/>
          <p:nvPr/>
        </p:nvSpPr>
        <p:spPr>
          <a:xfrm>
            <a:off x="3026388" y="367496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305"/>
          <p:cNvSpPr/>
          <p:nvPr/>
        </p:nvSpPr>
        <p:spPr>
          <a:xfrm>
            <a:off x="6738425" y="3661700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305"/>
          <p:cNvSpPr/>
          <p:nvPr/>
        </p:nvSpPr>
        <p:spPr>
          <a:xfrm>
            <a:off x="3026388" y="4764264"/>
            <a:ext cx="3382196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1" name="Google Shape;3321;p305"/>
          <p:cNvSpPr/>
          <p:nvPr/>
        </p:nvSpPr>
        <p:spPr>
          <a:xfrm>
            <a:off x="6739928" y="475099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305"/>
          <p:cNvSpPr txBox="1">
            <a:spLocks noGrp="1"/>
          </p:cNvSpPr>
          <p:nvPr>
            <p:ph type="body" idx="1"/>
          </p:nvPr>
        </p:nvSpPr>
        <p:spPr>
          <a:xfrm>
            <a:off x="2925900" y="843400"/>
            <a:ext cx="7625050" cy="95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SzPts val="1100"/>
              <a:buNone/>
            </a:pPr>
            <a:r>
              <a:rPr lang="pt-BR" sz="3000" dirty="0">
                <a:solidFill>
                  <a:schemeClr val="lt1"/>
                </a:solidFill>
              </a:rPr>
              <a:t>Um programa possui funções para cadastrar, consultar e sair. O usuário digita a opção 8, que não existe no menu. O que o programa deve fazer antes de chamar uma função?</a:t>
            </a:r>
            <a:endParaRPr sz="3000" dirty="0">
              <a:solidFill>
                <a:schemeClr val="lt1"/>
              </a:solidFill>
            </a:endParaRPr>
          </a:p>
        </p:txBody>
      </p:sp>
      <p:sp>
        <p:nvSpPr>
          <p:cNvPr id="3324" name="Google Shape;3324;p305"/>
          <p:cNvSpPr txBox="1"/>
          <p:nvPr/>
        </p:nvSpPr>
        <p:spPr>
          <a:xfrm>
            <a:off x="2983777" y="4854445"/>
            <a:ext cx="3442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Encerrar o programa imediatamente.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5" name="Google Shape;3325;p305"/>
          <p:cNvSpPr txBox="1"/>
          <p:nvPr/>
        </p:nvSpPr>
        <p:spPr>
          <a:xfrm>
            <a:off x="3064334" y="3774679"/>
            <a:ext cx="3325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Executar a primeira função disponível.</a:t>
            </a:r>
            <a:endParaRPr sz="2000" dirty="0"/>
          </a:p>
        </p:txBody>
      </p:sp>
      <p:sp>
        <p:nvSpPr>
          <p:cNvPr id="3326" name="Google Shape;3326;p305"/>
          <p:cNvSpPr txBox="1"/>
          <p:nvPr/>
        </p:nvSpPr>
        <p:spPr>
          <a:xfrm>
            <a:off x="6738271" y="3774549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Validar a entrada informada pelo usuário.</a:t>
            </a:r>
            <a:endParaRPr sz="2000" dirty="0"/>
          </a:p>
        </p:txBody>
      </p:sp>
      <p:sp>
        <p:nvSpPr>
          <p:cNvPr id="3327" name="Google Shape;3327;p305"/>
          <p:cNvSpPr txBox="1"/>
          <p:nvPr/>
        </p:nvSpPr>
        <p:spPr>
          <a:xfrm>
            <a:off x="6738271" y="4854444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Exibir o menu novamente.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C7A60D46-B252-4C1B-E852-E75B7CF2A304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AB9E5FC-5D71-A706-3B0C-AFEB7ACEF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9F5BDD54-5C5A-B01B-404F-4019CA6BC793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306"/>
          <p:cNvSpPr txBox="1"/>
          <p:nvPr/>
        </p:nvSpPr>
        <p:spPr>
          <a:xfrm>
            <a:off x="1625600" y="1295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3" name="Google Shape;3333;p306"/>
          <p:cNvSpPr txBox="1"/>
          <p:nvPr/>
        </p:nvSpPr>
        <p:spPr>
          <a:xfrm>
            <a:off x="723900" y="125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4" name="Google Shape;3334;p306"/>
          <p:cNvSpPr txBox="1"/>
          <p:nvPr/>
        </p:nvSpPr>
        <p:spPr>
          <a:xfrm>
            <a:off x="1054100" y="14859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7" name="Google Shape;3337;p306"/>
          <p:cNvSpPr/>
          <p:nvPr/>
        </p:nvSpPr>
        <p:spPr>
          <a:xfrm>
            <a:off x="2437471" y="3790594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8" name="Google Shape;3338;p306"/>
          <p:cNvSpPr/>
          <p:nvPr/>
        </p:nvSpPr>
        <p:spPr>
          <a:xfrm>
            <a:off x="2429517" y="4863913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9" name="Google Shape;3339;p306"/>
          <p:cNvSpPr/>
          <p:nvPr/>
        </p:nvSpPr>
        <p:spPr>
          <a:xfrm>
            <a:off x="10211714" y="4870929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0" name="Google Shape;3340;p306"/>
          <p:cNvSpPr/>
          <p:nvPr/>
        </p:nvSpPr>
        <p:spPr>
          <a:xfrm rot="-3044895">
            <a:off x="10300978" y="3896243"/>
            <a:ext cx="385473" cy="265854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A5F9212A-98AA-8FD4-0358-38A98DA999FE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D580F77-E540-25D4-C7C3-817DCEE38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31FDF649-BE40-40F8-D8B3-78898B3BB2A6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6" name="Google Shape;3318;p305">
            <a:extLst>
              <a:ext uri="{FF2B5EF4-FFF2-40B4-BE49-F238E27FC236}">
                <a16:creationId xmlns:a16="http://schemas.microsoft.com/office/drawing/2014/main" id="{E1DD4AF2-4BD6-E678-5B7E-84813DC1D4FE}"/>
              </a:ext>
            </a:extLst>
          </p:cNvPr>
          <p:cNvSpPr/>
          <p:nvPr/>
        </p:nvSpPr>
        <p:spPr>
          <a:xfrm>
            <a:off x="3026388" y="367496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319;p305">
            <a:extLst>
              <a:ext uri="{FF2B5EF4-FFF2-40B4-BE49-F238E27FC236}">
                <a16:creationId xmlns:a16="http://schemas.microsoft.com/office/drawing/2014/main" id="{F9190819-71F6-4CA8-65EF-A70FEE6C7604}"/>
              </a:ext>
            </a:extLst>
          </p:cNvPr>
          <p:cNvSpPr/>
          <p:nvPr/>
        </p:nvSpPr>
        <p:spPr>
          <a:xfrm>
            <a:off x="6738425" y="3661700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320;p305">
            <a:extLst>
              <a:ext uri="{FF2B5EF4-FFF2-40B4-BE49-F238E27FC236}">
                <a16:creationId xmlns:a16="http://schemas.microsoft.com/office/drawing/2014/main" id="{530D83FD-B2FF-B8FA-12B8-5328D6954636}"/>
              </a:ext>
            </a:extLst>
          </p:cNvPr>
          <p:cNvSpPr/>
          <p:nvPr/>
        </p:nvSpPr>
        <p:spPr>
          <a:xfrm>
            <a:off x="3026388" y="476426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321;p305">
            <a:extLst>
              <a:ext uri="{FF2B5EF4-FFF2-40B4-BE49-F238E27FC236}">
                <a16:creationId xmlns:a16="http://schemas.microsoft.com/office/drawing/2014/main" id="{1D15A393-B099-713A-BD9C-4DBE01DBD70C}"/>
              </a:ext>
            </a:extLst>
          </p:cNvPr>
          <p:cNvSpPr/>
          <p:nvPr/>
        </p:nvSpPr>
        <p:spPr>
          <a:xfrm>
            <a:off x="6739928" y="475099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323;p305">
            <a:extLst>
              <a:ext uri="{FF2B5EF4-FFF2-40B4-BE49-F238E27FC236}">
                <a16:creationId xmlns:a16="http://schemas.microsoft.com/office/drawing/2014/main" id="{E4F725C5-6A10-84FB-5CFC-A9054A3194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5900" y="843400"/>
            <a:ext cx="7625050" cy="95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buSzPts val="1100"/>
              <a:buNone/>
            </a:pPr>
            <a:r>
              <a:rPr lang="pt-BR" sz="3000" dirty="0">
                <a:solidFill>
                  <a:schemeClr val="lt1"/>
                </a:solidFill>
              </a:rPr>
              <a:t>Um programa possui funções para cadastrar, consultar e sair. O usuário digita a opção 8, que não existe no menu. O que o programa deve fazer antes de chamar uma função?</a:t>
            </a:r>
            <a:endParaRPr sz="3000" dirty="0">
              <a:solidFill>
                <a:schemeClr val="lt1"/>
              </a:solidFill>
            </a:endParaRPr>
          </a:p>
        </p:txBody>
      </p:sp>
      <p:sp>
        <p:nvSpPr>
          <p:cNvPr id="12" name="Google Shape;3324;p305">
            <a:extLst>
              <a:ext uri="{FF2B5EF4-FFF2-40B4-BE49-F238E27FC236}">
                <a16:creationId xmlns:a16="http://schemas.microsoft.com/office/drawing/2014/main" id="{19993E27-4940-6522-C5B7-A49A8204341A}"/>
              </a:ext>
            </a:extLst>
          </p:cNvPr>
          <p:cNvSpPr txBox="1"/>
          <p:nvPr/>
        </p:nvSpPr>
        <p:spPr>
          <a:xfrm>
            <a:off x="2983777" y="4854445"/>
            <a:ext cx="3442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Encerrar o programa imediatamente.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3325;p305">
            <a:extLst>
              <a:ext uri="{FF2B5EF4-FFF2-40B4-BE49-F238E27FC236}">
                <a16:creationId xmlns:a16="http://schemas.microsoft.com/office/drawing/2014/main" id="{5A47F08A-5705-55A5-57F8-267F366A53A8}"/>
              </a:ext>
            </a:extLst>
          </p:cNvPr>
          <p:cNvSpPr txBox="1"/>
          <p:nvPr/>
        </p:nvSpPr>
        <p:spPr>
          <a:xfrm>
            <a:off x="3064334" y="3774679"/>
            <a:ext cx="3325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Executar a primeira função disponível.</a:t>
            </a:r>
            <a:endParaRPr sz="2000" dirty="0"/>
          </a:p>
        </p:txBody>
      </p:sp>
      <p:sp>
        <p:nvSpPr>
          <p:cNvPr id="14" name="Google Shape;3326;p305">
            <a:extLst>
              <a:ext uri="{FF2B5EF4-FFF2-40B4-BE49-F238E27FC236}">
                <a16:creationId xmlns:a16="http://schemas.microsoft.com/office/drawing/2014/main" id="{075C368F-745F-4198-0C90-FBF54DF89AC9}"/>
              </a:ext>
            </a:extLst>
          </p:cNvPr>
          <p:cNvSpPr txBox="1"/>
          <p:nvPr/>
        </p:nvSpPr>
        <p:spPr>
          <a:xfrm>
            <a:off x="6738271" y="3774549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Validar a entrada informada pelo usuário.</a:t>
            </a:r>
            <a:endParaRPr sz="2000" dirty="0"/>
          </a:p>
        </p:txBody>
      </p:sp>
      <p:sp>
        <p:nvSpPr>
          <p:cNvPr id="15" name="Google Shape;3327;p305">
            <a:extLst>
              <a:ext uri="{FF2B5EF4-FFF2-40B4-BE49-F238E27FC236}">
                <a16:creationId xmlns:a16="http://schemas.microsoft.com/office/drawing/2014/main" id="{2632FC39-8DBF-448F-27A4-5085C3643178}"/>
              </a:ext>
            </a:extLst>
          </p:cNvPr>
          <p:cNvSpPr txBox="1"/>
          <p:nvPr/>
        </p:nvSpPr>
        <p:spPr>
          <a:xfrm>
            <a:off x="6738271" y="4854444"/>
            <a:ext cx="3395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Exibir o menu novamente.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p307"/>
          <p:cNvSpPr txBox="1"/>
          <p:nvPr/>
        </p:nvSpPr>
        <p:spPr>
          <a:xfrm>
            <a:off x="2701430" y="800056"/>
            <a:ext cx="7347446" cy="93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Organizando e validando o programa do menu</a:t>
            </a:r>
            <a:endParaRPr sz="3200" dirty="0"/>
          </a:p>
        </p:txBody>
      </p:sp>
      <p:grpSp>
        <p:nvGrpSpPr>
          <p:cNvPr id="3356" name="Google Shape;3356;p307"/>
          <p:cNvGrpSpPr/>
          <p:nvPr/>
        </p:nvGrpSpPr>
        <p:grpSpPr>
          <a:xfrm>
            <a:off x="10362143" y="5799750"/>
            <a:ext cx="1744132" cy="406400"/>
            <a:chOff x="9846043" y="5437112"/>
            <a:chExt cx="1744132" cy="406400"/>
          </a:xfrm>
        </p:grpSpPr>
        <p:pic>
          <p:nvPicPr>
            <p:cNvPr id="3357" name="Google Shape;3357;p307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46043" y="5437112"/>
              <a:ext cx="1744132" cy="406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58" name="Google Shape;3358;p307"/>
            <p:cNvGrpSpPr/>
            <p:nvPr/>
          </p:nvGrpSpPr>
          <p:grpSpPr>
            <a:xfrm>
              <a:off x="10079747" y="5521421"/>
              <a:ext cx="1172500" cy="199080"/>
              <a:chOff x="2316209" y="1866988"/>
              <a:chExt cx="1758662" cy="298605"/>
            </a:xfrm>
          </p:grpSpPr>
          <p:sp>
            <p:nvSpPr>
              <p:cNvPr id="3359" name="Google Shape;3359;p307"/>
              <p:cNvSpPr/>
              <p:nvPr/>
            </p:nvSpPr>
            <p:spPr>
              <a:xfrm>
                <a:off x="2316209" y="1900613"/>
                <a:ext cx="256393" cy="263805"/>
              </a:xfrm>
              <a:custGeom>
                <a:avLst/>
                <a:gdLst/>
                <a:ahLst/>
                <a:cxnLst/>
                <a:rect l="l" t="t" r="r" b="b"/>
                <a:pathLst>
                  <a:path w="256393" h="263805" extrusionOk="0">
                    <a:moveTo>
                      <a:pt x="16815" y="63645"/>
                    </a:moveTo>
                    <a:cubicBezTo>
                      <a:pt x="28026" y="43604"/>
                      <a:pt x="43652" y="28007"/>
                      <a:pt x="63695" y="16771"/>
                    </a:cubicBezTo>
                    <a:cubicBezTo>
                      <a:pt x="83738" y="5618"/>
                      <a:pt x="106498" y="0"/>
                      <a:pt x="131891" y="0"/>
                    </a:cubicBezTo>
                    <a:cubicBezTo>
                      <a:pt x="163059" y="0"/>
                      <a:pt x="189726" y="8134"/>
                      <a:pt x="211892" y="24318"/>
                    </a:cubicBezTo>
                    <a:cubicBezTo>
                      <a:pt x="234058" y="40586"/>
                      <a:pt x="248920" y="62723"/>
                      <a:pt x="256394" y="90730"/>
                    </a:cubicBezTo>
                    <a:lnTo>
                      <a:pt x="186159" y="90730"/>
                    </a:lnTo>
                    <a:cubicBezTo>
                      <a:pt x="180894" y="79913"/>
                      <a:pt x="173505" y="71696"/>
                      <a:pt x="163909" y="65993"/>
                    </a:cubicBezTo>
                    <a:cubicBezTo>
                      <a:pt x="154312" y="60375"/>
                      <a:pt x="143441" y="57524"/>
                      <a:pt x="131212" y="57524"/>
                    </a:cubicBezTo>
                    <a:cubicBezTo>
                      <a:pt x="111509" y="57524"/>
                      <a:pt x="95543" y="64316"/>
                      <a:pt x="83398" y="77817"/>
                    </a:cubicBezTo>
                    <a:cubicBezTo>
                      <a:pt x="71169" y="91317"/>
                      <a:pt x="65054" y="109430"/>
                      <a:pt x="65054" y="132071"/>
                    </a:cubicBezTo>
                    <a:cubicBezTo>
                      <a:pt x="65054" y="154711"/>
                      <a:pt x="71169" y="172824"/>
                      <a:pt x="83398" y="186324"/>
                    </a:cubicBezTo>
                    <a:cubicBezTo>
                      <a:pt x="95627" y="199825"/>
                      <a:pt x="111509" y="206617"/>
                      <a:pt x="131212" y="206617"/>
                    </a:cubicBezTo>
                    <a:cubicBezTo>
                      <a:pt x="143441" y="206617"/>
                      <a:pt x="154312" y="203766"/>
                      <a:pt x="163909" y="198148"/>
                    </a:cubicBezTo>
                    <a:cubicBezTo>
                      <a:pt x="173505" y="192530"/>
                      <a:pt x="180894" y="184228"/>
                      <a:pt x="186159" y="173411"/>
                    </a:cubicBezTo>
                    <a:lnTo>
                      <a:pt x="256394" y="173411"/>
                    </a:lnTo>
                    <a:cubicBezTo>
                      <a:pt x="248920" y="201418"/>
                      <a:pt x="234058" y="223556"/>
                      <a:pt x="211892" y="239656"/>
                    </a:cubicBezTo>
                    <a:cubicBezTo>
                      <a:pt x="189726" y="255756"/>
                      <a:pt x="163059" y="263806"/>
                      <a:pt x="131891" y="263806"/>
                    </a:cubicBezTo>
                    <a:cubicBezTo>
                      <a:pt x="106498" y="263806"/>
                      <a:pt x="83738" y="258188"/>
                      <a:pt x="63695" y="247035"/>
                    </a:cubicBezTo>
                    <a:cubicBezTo>
                      <a:pt x="43652" y="235882"/>
                      <a:pt x="28026" y="220285"/>
                      <a:pt x="16815" y="200328"/>
                    </a:cubicBezTo>
                    <a:cubicBezTo>
                      <a:pt x="5605" y="180371"/>
                      <a:pt x="0" y="157646"/>
                      <a:pt x="0" y="132071"/>
                    </a:cubicBezTo>
                    <a:cubicBezTo>
                      <a:pt x="0" y="106495"/>
                      <a:pt x="5605" y="83687"/>
                      <a:pt x="16815" y="636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22"/>
                  <a:buFont typeface="Arial"/>
                  <a:buNone/>
                </a:pPr>
                <a:endParaRPr sz="62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0" name="Google Shape;3360;p307"/>
              <p:cNvSpPr/>
              <p:nvPr/>
            </p:nvSpPr>
            <p:spPr>
              <a:xfrm>
                <a:off x="2599100" y="1953777"/>
                <a:ext cx="216733" cy="211816"/>
              </a:xfrm>
              <a:custGeom>
                <a:avLst/>
                <a:gdLst/>
                <a:ahLst/>
                <a:cxnLst/>
                <a:rect l="l" t="t" r="r" b="b"/>
                <a:pathLst>
                  <a:path w="216733" h="211816" extrusionOk="0">
                    <a:moveTo>
                      <a:pt x="52485" y="198903"/>
                    </a:moveTo>
                    <a:cubicBezTo>
                      <a:pt x="36179" y="190266"/>
                      <a:pt x="23355" y="178023"/>
                      <a:pt x="14013" y="162007"/>
                    </a:cubicBezTo>
                    <a:cubicBezTo>
                      <a:pt x="4671" y="145991"/>
                      <a:pt x="0" y="127291"/>
                      <a:pt x="0" y="105908"/>
                    </a:cubicBezTo>
                    <a:cubicBezTo>
                      <a:pt x="0" y="84525"/>
                      <a:pt x="4756" y="66077"/>
                      <a:pt x="14183" y="49977"/>
                    </a:cubicBezTo>
                    <a:cubicBezTo>
                      <a:pt x="23610" y="33877"/>
                      <a:pt x="36603" y="21467"/>
                      <a:pt x="53079" y="12914"/>
                    </a:cubicBezTo>
                    <a:cubicBezTo>
                      <a:pt x="69555" y="4277"/>
                      <a:pt x="87984" y="0"/>
                      <a:pt x="108367" y="0"/>
                    </a:cubicBezTo>
                    <a:cubicBezTo>
                      <a:pt x="128749" y="0"/>
                      <a:pt x="147263" y="4277"/>
                      <a:pt x="163654" y="12914"/>
                    </a:cubicBezTo>
                    <a:cubicBezTo>
                      <a:pt x="180130" y="21551"/>
                      <a:pt x="193038" y="33877"/>
                      <a:pt x="202550" y="49977"/>
                    </a:cubicBezTo>
                    <a:cubicBezTo>
                      <a:pt x="211977" y="66077"/>
                      <a:pt x="216733" y="84693"/>
                      <a:pt x="216733" y="105908"/>
                    </a:cubicBezTo>
                    <a:cubicBezTo>
                      <a:pt x="216733" y="127123"/>
                      <a:pt x="211892" y="145739"/>
                      <a:pt x="202380" y="161839"/>
                    </a:cubicBezTo>
                    <a:cubicBezTo>
                      <a:pt x="192784" y="177939"/>
                      <a:pt x="179705" y="190349"/>
                      <a:pt x="163144" y="198903"/>
                    </a:cubicBezTo>
                    <a:cubicBezTo>
                      <a:pt x="146584" y="207540"/>
                      <a:pt x="128069" y="211816"/>
                      <a:pt x="107687" y="211816"/>
                    </a:cubicBezTo>
                    <a:cubicBezTo>
                      <a:pt x="87305" y="211816"/>
                      <a:pt x="68876" y="207540"/>
                      <a:pt x="52570" y="198903"/>
                    </a:cubicBezTo>
                    <a:close/>
                    <a:moveTo>
                      <a:pt x="138855" y="143894"/>
                    </a:moveTo>
                    <a:cubicBezTo>
                      <a:pt x="147433" y="135006"/>
                      <a:pt x="151764" y="122344"/>
                      <a:pt x="151764" y="105908"/>
                    </a:cubicBezTo>
                    <a:cubicBezTo>
                      <a:pt x="151764" y="89473"/>
                      <a:pt x="147603" y="76727"/>
                      <a:pt x="139280" y="67922"/>
                    </a:cubicBezTo>
                    <a:cubicBezTo>
                      <a:pt x="130957" y="59033"/>
                      <a:pt x="120681" y="54673"/>
                      <a:pt x="108451" y="54673"/>
                    </a:cubicBezTo>
                    <a:cubicBezTo>
                      <a:pt x="96222" y="54673"/>
                      <a:pt x="85691" y="59033"/>
                      <a:pt x="77453" y="67754"/>
                    </a:cubicBezTo>
                    <a:cubicBezTo>
                      <a:pt x="69215" y="76475"/>
                      <a:pt x="65139" y="89221"/>
                      <a:pt x="65139" y="105908"/>
                    </a:cubicBezTo>
                    <a:cubicBezTo>
                      <a:pt x="65139" y="122595"/>
                      <a:pt x="69215" y="135089"/>
                      <a:pt x="77283" y="143894"/>
                    </a:cubicBezTo>
                    <a:cubicBezTo>
                      <a:pt x="85351" y="152783"/>
                      <a:pt x="95543" y="157143"/>
                      <a:pt x="107772" y="157143"/>
                    </a:cubicBezTo>
                    <a:cubicBezTo>
                      <a:pt x="120001" y="157143"/>
                      <a:pt x="130362" y="152699"/>
                      <a:pt x="138940" y="1438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22"/>
                  <a:buFont typeface="Arial"/>
                  <a:buNone/>
                </a:pPr>
                <a:endParaRPr sz="62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1" name="Google Shape;3361;p307"/>
              <p:cNvSpPr/>
              <p:nvPr/>
            </p:nvSpPr>
            <p:spPr>
              <a:xfrm>
                <a:off x="2849888" y="1954616"/>
                <a:ext cx="207391" cy="208042"/>
              </a:xfrm>
              <a:custGeom>
                <a:avLst/>
                <a:gdLst/>
                <a:ahLst/>
                <a:cxnLst/>
                <a:rect l="l" t="t" r="r" b="b"/>
                <a:pathLst>
                  <a:path w="207391" h="208042" extrusionOk="0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7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22"/>
                  <a:buFont typeface="Arial"/>
                  <a:buNone/>
                </a:pPr>
                <a:endParaRPr sz="62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2" name="Google Shape;3362;p307"/>
              <p:cNvSpPr/>
              <p:nvPr/>
            </p:nvSpPr>
            <p:spPr>
              <a:xfrm>
                <a:off x="3086409" y="1906483"/>
                <a:ext cx="131551" cy="256175"/>
              </a:xfrm>
              <a:custGeom>
                <a:avLst/>
                <a:gdLst/>
                <a:ahLst/>
                <a:cxnLst/>
                <a:rect l="l" t="t" r="r" b="b"/>
                <a:pathLst>
                  <a:path w="131551" h="256175" extrusionOk="0">
                    <a:moveTo>
                      <a:pt x="131551" y="202676"/>
                    </a:moveTo>
                    <a:lnTo>
                      <a:pt x="131551" y="256175"/>
                    </a:lnTo>
                    <a:lnTo>
                      <a:pt x="99024" y="256175"/>
                    </a:lnTo>
                    <a:cubicBezTo>
                      <a:pt x="75839" y="256175"/>
                      <a:pt x="57750" y="250557"/>
                      <a:pt x="44841" y="239404"/>
                    </a:cubicBezTo>
                    <a:cubicBezTo>
                      <a:pt x="31932" y="228252"/>
                      <a:pt x="25393" y="209971"/>
                      <a:pt x="25393" y="184564"/>
                    </a:cubicBezTo>
                    <a:lnTo>
                      <a:pt x="25393" y="102638"/>
                    </a:lnTo>
                    <a:lnTo>
                      <a:pt x="0" y="102638"/>
                    </a:lnTo>
                    <a:lnTo>
                      <a:pt x="0" y="50229"/>
                    </a:lnTo>
                    <a:lnTo>
                      <a:pt x="25393" y="50229"/>
                    </a:lnTo>
                    <a:lnTo>
                      <a:pt x="25393" y="0"/>
                    </a:lnTo>
                    <a:lnTo>
                      <a:pt x="89343" y="0"/>
                    </a:lnTo>
                    <a:lnTo>
                      <a:pt x="89343" y="50229"/>
                    </a:lnTo>
                    <a:lnTo>
                      <a:pt x="131212" y="50229"/>
                    </a:lnTo>
                    <a:lnTo>
                      <a:pt x="131212" y="102638"/>
                    </a:lnTo>
                    <a:lnTo>
                      <a:pt x="89343" y="102638"/>
                    </a:lnTo>
                    <a:lnTo>
                      <a:pt x="89343" y="185318"/>
                    </a:lnTo>
                    <a:cubicBezTo>
                      <a:pt x="89343" y="191440"/>
                      <a:pt x="90872" y="195884"/>
                      <a:pt x="93844" y="198567"/>
                    </a:cubicBezTo>
                    <a:cubicBezTo>
                      <a:pt x="96816" y="201251"/>
                      <a:pt x="101827" y="202592"/>
                      <a:pt x="108791" y="202592"/>
                    </a:cubicBezTo>
                    <a:lnTo>
                      <a:pt x="131551" y="2025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22"/>
                  <a:buFont typeface="Arial"/>
                  <a:buNone/>
                </a:pPr>
                <a:endParaRPr sz="62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3" name="Google Shape;3363;p307"/>
              <p:cNvSpPr/>
              <p:nvPr/>
            </p:nvSpPr>
            <p:spPr>
              <a:xfrm>
                <a:off x="3247515" y="1866988"/>
                <a:ext cx="75754" cy="295586"/>
              </a:xfrm>
              <a:custGeom>
                <a:avLst/>
                <a:gdLst/>
                <a:ahLst/>
                <a:cxnLst/>
                <a:rect l="l" t="t" r="r" b="b"/>
                <a:pathLst>
                  <a:path w="75754" h="295586" extrusionOk="0">
                    <a:moveTo>
                      <a:pt x="10616" y="58530"/>
                    </a:moveTo>
                    <a:cubicBezTo>
                      <a:pt x="3482" y="51990"/>
                      <a:pt x="0" y="43940"/>
                      <a:pt x="0" y="34380"/>
                    </a:cubicBezTo>
                    <a:cubicBezTo>
                      <a:pt x="0" y="24821"/>
                      <a:pt x="3567" y="16352"/>
                      <a:pt x="10616" y="9811"/>
                    </a:cubicBezTo>
                    <a:cubicBezTo>
                      <a:pt x="17665" y="3270"/>
                      <a:pt x="26837" y="0"/>
                      <a:pt x="38047" y="0"/>
                    </a:cubicBezTo>
                    <a:cubicBezTo>
                      <a:pt x="49257" y="0"/>
                      <a:pt x="58005" y="3270"/>
                      <a:pt x="65139" y="9811"/>
                    </a:cubicBezTo>
                    <a:cubicBezTo>
                      <a:pt x="72273" y="16352"/>
                      <a:pt x="75755" y="24485"/>
                      <a:pt x="75755" y="34380"/>
                    </a:cubicBezTo>
                    <a:cubicBezTo>
                      <a:pt x="75755" y="44275"/>
                      <a:pt x="72188" y="52074"/>
                      <a:pt x="65139" y="58530"/>
                    </a:cubicBezTo>
                    <a:cubicBezTo>
                      <a:pt x="58090" y="64987"/>
                      <a:pt x="49003" y="68341"/>
                      <a:pt x="38047" y="68341"/>
                    </a:cubicBezTo>
                    <a:cubicBezTo>
                      <a:pt x="27092" y="68341"/>
                      <a:pt x="17665" y="65071"/>
                      <a:pt x="10616" y="58530"/>
                    </a:cubicBezTo>
                    <a:close/>
                    <a:moveTo>
                      <a:pt x="69895" y="89724"/>
                    </a:moveTo>
                    <a:lnTo>
                      <a:pt x="69895" y="295587"/>
                    </a:lnTo>
                    <a:lnTo>
                      <a:pt x="5945" y="295587"/>
                    </a:lnTo>
                    <a:lnTo>
                      <a:pt x="5945" y="89724"/>
                    </a:lnTo>
                    <a:lnTo>
                      <a:pt x="69895" y="89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22"/>
                  <a:buFont typeface="Arial"/>
                  <a:buNone/>
                </a:pPr>
                <a:endParaRPr sz="62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4" name="Google Shape;3364;p307"/>
              <p:cNvSpPr/>
              <p:nvPr/>
            </p:nvSpPr>
            <p:spPr>
              <a:xfrm>
                <a:off x="3363695" y="1954616"/>
                <a:ext cx="207391" cy="208042"/>
              </a:xfrm>
              <a:custGeom>
                <a:avLst/>
                <a:gdLst/>
                <a:ahLst/>
                <a:cxnLst/>
                <a:rect l="l" t="t" r="r" b="b"/>
                <a:pathLst>
                  <a:path w="207391" h="208042" extrusionOk="0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6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22"/>
                  <a:buFont typeface="Arial"/>
                  <a:buNone/>
                </a:pPr>
                <a:endParaRPr sz="62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5" name="Google Shape;3365;p307"/>
              <p:cNvSpPr/>
              <p:nvPr/>
            </p:nvSpPr>
            <p:spPr>
              <a:xfrm>
                <a:off x="3613804" y="1956712"/>
                <a:ext cx="207900" cy="208126"/>
              </a:xfrm>
              <a:custGeom>
                <a:avLst/>
                <a:gdLst/>
                <a:ahLst/>
                <a:cxnLst/>
                <a:rect l="l" t="t" r="r" b="b"/>
                <a:pathLst>
                  <a:path w="207900" h="208126" extrusionOk="0">
                    <a:moveTo>
                      <a:pt x="207731" y="0"/>
                    </a:moveTo>
                    <a:lnTo>
                      <a:pt x="207731" y="205863"/>
                    </a:lnTo>
                    <a:lnTo>
                      <a:pt x="143781" y="205863"/>
                    </a:lnTo>
                    <a:lnTo>
                      <a:pt x="143781" y="177855"/>
                    </a:lnTo>
                    <a:cubicBezTo>
                      <a:pt x="137326" y="186995"/>
                      <a:pt x="128494" y="194291"/>
                      <a:pt x="117454" y="199825"/>
                    </a:cubicBezTo>
                    <a:cubicBezTo>
                      <a:pt x="106328" y="205359"/>
                      <a:pt x="94099" y="208127"/>
                      <a:pt x="80680" y="208127"/>
                    </a:cubicBezTo>
                    <a:cubicBezTo>
                      <a:pt x="64714" y="208127"/>
                      <a:pt x="50616" y="204605"/>
                      <a:pt x="38472" y="197645"/>
                    </a:cubicBezTo>
                    <a:cubicBezTo>
                      <a:pt x="26242" y="190601"/>
                      <a:pt x="16816" y="180455"/>
                      <a:pt x="10106" y="167206"/>
                    </a:cubicBezTo>
                    <a:cubicBezTo>
                      <a:pt x="3397" y="153957"/>
                      <a:pt x="0" y="138276"/>
                      <a:pt x="0" y="120331"/>
                    </a:cubicBezTo>
                    <a:lnTo>
                      <a:pt x="0" y="0"/>
                    </a:lnTo>
                    <a:lnTo>
                      <a:pt x="63525" y="0"/>
                    </a:lnTo>
                    <a:lnTo>
                      <a:pt x="63525" y="111778"/>
                    </a:lnTo>
                    <a:cubicBezTo>
                      <a:pt x="63525" y="125530"/>
                      <a:pt x="67092" y="136263"/>
                      <a:pt x="74396" y="143894"/>
                    </a:cubicBezTo>
                    <a:cubicBezTo>
                      <a:pt x="81615" y="151525"/>
                      <a:pt x="91381" y="155298"/>
                      <a:pt x="103526" y="155298"/>
                    </a:cubicBezTo>
                    <a:cubicBezTo>
                      <a:pt x="115670" y="155298"/>
                      <a:pt x="125776" y="151441"/>
                      <a:pt x="133080" y="143894"/>
                    </a:cubicBezTo>
                    <a:cubicBezTo>
                      <a:pt x="140299" y="136263"/>
                      <a:pt x="143951" y="125530"/>
                      <a:pt x="143951" y="111778"/>
                    </a:cubicBezTo>
                    <a:lnTo>
                      <a:pt x="143951" y="0"/>
                    </a:lnTo>
                    <a:lnTo>
                      <a:pt x="2079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22"/>
                  <a:buFont typeface="Arial"/>
                  <a:buNone/>
                </a:pPr>
                <a:endParaRPr sz="62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6" name="Google Shape;3366;p307"/>
              <p:cNvSpPr/>
              <p:nvPr/>
            </p:nvSpPr>
            <p:spPr>
              <a:xfrm>
                <a:off x="3854826" y="1953777"/>
                <a:ext cx="220045" cy="211732"/>
              </a:xfrm>
              <a:custGeom>
                <a:avLst/>
                <a:gdLst/>
                <a:ahLst/>
                <a:cxnLst/>
                <a:rect l="l" t="t" r="r" b="b"/>
                <a:pathLst>
                  <a:path w="220045" h="211732" extrusionOk="0">
                    <a:moveTo>
                      <a:pt x="12144" y="49810"/>
                    </a:moveTo>
                    <a:cubicBezTo>
                      <a:pt x="20213" y="33793"/>
                      <a:pt x="31253" y="21551"/>
                      <a:pt x="45181" y="12914"/>
                    </a:cubicBezTo>
                    <a:cubicBezTo>
                      <a:pt x="59109" y="4277"/>
                      <a:pt x="74736" y="0"/>
                      <a:pt x="91891" y="0"/>
                    </a:cubicBezTo>
                    <a:cubicBezTo>
                      <a:pt x="106583" y="0"/>
                      <a:pt x="119492" y="2935"/>
                      <a:pt x="130532" y="8889"/>
                    </a:cubicBezTo>
                    <a:cubicBezTo>
                      <a:pt x="141658" y="14758"/>
                      <a:pt x="150150" y="22557"/>
                      <a:pt x="156180" y="32116"/>
                    </a:cubicBezTo>
                    <a:lnTo>
                      <a:pt x="156180" y="2935"/>
                    </a:lnTo>
                    <a:lnTo>
                      <a:pt x="220045" y="2935"/>
                    </a:lnTo>
                    <a:lnTo>
                      <a:pt x="220045" y="208797"/>
                    </a:lnTo>
                    <a:lnTo>
                      <a:pt x="156180" y="208797"/>
                    </a:lnTo>
                    <a:lnTo>
                      <a:pt x="156180" y="179616"/>
                    </a:lnTo>
                    <a:cubicBezTo>
                      <a:pt x="149981" y="189175"/>
                      <a:pt x="141318" y="196974"/>
                      <a:pt x="130193" y="202844"/>
                    </a:cubicBezTo>
                    <a:cubicBezTo>
                      <a:pt x="119067" y="208714"/>
                      <a:pt x="106243" y="211732"/>
                      <a:pt x="91551" y="211732"/>
                    </a:cubicBezTo>
                    <a:cubicBezTo>
                      <a:pt x="74566" y="211732"/>
                      <a:pt x="59194" y="207372"/>
                      <a:pt x="45181" y="198651"/>
                    </a:cubicBezTo>
                    <a:cubicBezTo>
                      <a:pt x="31168" y="189930"/>
                      <a:pt x="20213" y="177520"/>
                      <a:pt x="12144" y="161420"/>
                    </a:cubicBezTo>
                    <a:cubicBezTo>
                      <a:pt x="4076" y="145320"/>
                      <a:pt x="0" y="126704"/>
                      <a:pt x="0" y="105489"/>
                    </a:cubicBezTo>
                    <a:cubicBezTo>
                      <a:pt x="0" y="84274"/>
                      <a:pt x="4076" y="65742"/>
                      <a:pt x="12144" y="49726"/>
                    </a:cubicBezTo>
                    <a:close/>
                    <a:moveTo>
                      <a:pt x="142932" y="68593"/>
                    </a:moveTo>
                    <a:cubicBezTo>
                      <a:pt x="134099" y="59537"/>
                      <a:pt x="123314" y="54925"/>
                      <a:pt x="110575" y="54925"/>
                    </a:cubicBezTo>
                    <a:cubicBezTo>
                      <a:pt x="97836" y="54925"/>
                      <a:pt x="87050" y="59453"/>
                      <a:pt x="78218" y="68425"/>
                    </a:cubicBezTo>
                    <a:cubicBezTo>
                      <a:pt x="69385" y="77398"/>
                      <a:pt x="64969" y="89808"/>
                      <a:pt x="64969" y="105489"/>
                    </a:cubicBezTo>
                    <a:cubicBezTo>
                      <a:pt x="64969" y="121170"/>
                      <a:pt x="69385" y="133748"/>
                      <a:pt x="78218" y="142972"/>
                    </a:cubicBezTo>
                    <a:cubicBezTo>
                      <a:pt x="87050" y="152196"/>
                      <a:pt x="97836" y="156808"/>
                      <a:pt x="110575" y="156808"/>
                    </a:cubicBezTo>
                    <a:cubicBezTo>
                      <a:pt x="123314" y="156808"/>
                      <a:pt x="134014" y="152280"/>
                      <a:pt x="142932" y="143139"/>
                    </a:cubicBezTo>
                    <a:cubicBezTo>
                      <a:pt x="151764" y="134083"/>
                      <a:pt x="156180" y="121589"/>
                      <a:pt x="156180" y="105908"/>
                    </a:cubicBezTo>
                    <a:cubicBezTo>
                      <a:pt x="156180" y="90227"/>
                      <a:pt x="151764" y="77733"/>
                      <a:pt x="142932" y="686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22"/>
                  <a:buFont typeface="Arial"/>
                  <a:buNone/>
                </a:pPr>
                <a:endParaRPr sz="622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67" name="Google Shape;3367;p307"/>
          <p:cNvSpPr txBox="1"/>
          <p:nvPr/>
        </p:nvSpPr>
        <p:spPr>
          <a:xfrm>
            <a:off x="2701429" y="1959662"/>
            <a:ext cx="4335907" cy="31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Nosso programa já apresenta um menu e responde às opções escolhidas pelo usuário. </a:t>
            </a:r>
          </a:p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Agora, vamos reorganizá-lo em funções e verificar se a opção informada é válida antes de executar uma ação.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Aft>
                <a:spcPts val="1200"/>
              </a:spcAft>
              <a:buNone/>
            </a:pP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68" name="Google Shape;3368;p3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741" y="1977948"/>
            <a:ext cx="3637324" cy="31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9" name="Google Shape;3369;p307"/>
          <p:cNvSpPr txBox="1"/>
          <p:nvPr/>
        </p:nvSpPr>
        <p:spPr>
          <a:xfrm>
            <a:off x="7730035" y="5172490"/>
            <a:ext cx="3977333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5" name="Google Shape;3375;p308"/>
          <p:cNvSpPr txBox="1"/>
          <p:nvPr/>
        </p:nvSpPr>
        <p:spPr>
          <a:xfrm>
            <a:off x="477418" y="2443950"/>
            <a:ext cx="32145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Organizando e validando o programa do menu</a:t>
            </a:r>
            <a:endParaRPr sz="320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8" name="Google Shape;3378;p308"/>
          <p:cNvSpPr txBox="1">
            <a:spLocks noGrp="1"/>
          </p:cNvSpPr>
          <p:nvPr>
            <p:ph type="body" idx="3"/>
          </p:nvPr>
        </p:nvSpPr>
        <p:spPr>
          <a:xfrm>
            <a:off x="5207000" y="967151"/>
            <a:ext cx="6035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dirty="0">
                <a:solidFill>
                  <a:schemeClr val="tx1"/>
                </a:solidFill>
              </a:rPr>
              <a:t>Crie a função </a:t>
            </a:r>
            <a:r>
              <a:rPr lang="pt-BR" sz="1800" dirty="0" err="1">
                <a:solidFill>
                  <a:schemeClr val="tx1"/>
                </a:solidFill>
              </a:rPr>
              <a:t>mostrar_menu</a:t>
            </a:r>
            <a:r>
              <a:rPr lang="pt-BR" sz="1800" dirty="0">
                <a:solidFill>
                  <a:schemeClr val="tx1"/>
                </a:solidFill>
              </a:rPr>
              <a:t>() e mova para ela os comandos que exibem o menu.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3379" name="Google Shape;3379;p308"/>
          <p:cNvSpPr txBox="1">
            <a:spLocks noGrp="1"/>
          </p:cNvSpPr>
          <p:nvPr>
            <p:ph type="body" idx="4"/>
          </p:nvPr>
        </p:nvSpPr>
        <p:spPr>
          <a:xfrm>
            <a:off x="5207000" y="2470252"/>
            <a:ext cx="60357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dirty="0">
                <a:solidFill>
                  <a:schemeClr val="tx1"/>
                </a:solidFill>
              </a:rPr>
              <a:t>Crie a função </a:t>
            </a:r>
            <a:r>
              <a:rPr lang="pt-BR" sz="1800" dirty="0" err="1">
                <a:solidFill>
                  <a:schemeClr val="tx1"/>
                </a:solidFill>
              </a:rPr>
              <a:t>mostrar_mensagem</a:t>
            </a:r>
            <a:r>
              <a:rPr lang="pt-BR" sz="1800" dirty="0">
                <a:solidFill>
                  <a:schemeClr val="tx1"/>
                </a:solidFill>
              </a:rPr>
              <a:t>() para exibir a mensagem da opção 1.</a:t>
            </a:r>
            <a:endParaRPr sz="1800" i="0" u="none" strike="noStrike" cap="none" dirty="0">
              <a:solidFill>
                <a:schemeClr val="tx1"/>
              </a:solidFill>
            </a:endParaRPr>
          </a:p>
        </p:txBody>
      </p:sp>
      <p:sp>
        <p:nvSpPr>
          <p:cNvPr id="3380" name="Google Shape;3380;p308"/>
          <p:cNvSpPr txBox="1">
            <a:spLocks noGrp="1"/>
          </p:cNvSpPr>
          <p:nvPr>
            <p:ph type="body" idx="5"/>
          </p:nvPr>
        </p:nvSpPr>
        <p:spPr>
          <a:xfrm>
            <a:off x="5207000" y="3363775"/>
            <a:ext cx="603570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 dirty="0">
                <a:solidFill>
                  <a:schemeClr val="tx1"/>
                </a:solidFill>
              </a:rPr>
              <a:t>Execute o programa e confirme que ele continua funcionando. Acrescente uma verificação para informar “Opção inválida” quando o usuário digitar um valor diferente de 1 ou 0.</a:t>
            </a:r>
            <a:endParaRPr sz="1800" i="0" u="none" strike="noStrike" cap="none" dirty="0">
              <a:solidFill>
                <a:schemeClr val="tx1"/>
              </a:solidFill>
            </a:endParaRPr>
          </a:p>
        </p:txBody>
      </p:sp>
      <p:sp>
        <p:nvSpPr>
          <p:cNvPr id="3381" name="Google Shape;3381;p308"/>
          <p:cNvSpPr txBox="1">
            <a:spLocks noGrp="1"/>
          </p:cNvSpPr>
          <p:nvPr>
            <p:ph type="body" idx="6"/>
          </p:nvPr>
        </p:nvSpPr>
        <p:spPr>
          <a:xfrm>
            <a:off x="5207000" y="5368184"/>
            <a:ext cx="60357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800">
                <a:solidFill>
                  <a:schemeClr val="tx1"/>
                </a:solidFill>
              </a:rPr>
              <a:t>Execute novamente o programa e teste diferentes entradas.</a:t>
            </a:r>
            <a:endParaRPr sz="1800" i="0" u="none" strike="noStrike" cap="none">
              <a:solidFill>
                <a:schemeClr val="tx1"/>
              </a:solidFill>
            </a:endParaRPr>
          </a:p>
        </p:txBody>
      </p:sp>
      <p:grpSp>
        <p:nvGrpSpPr>
          <p:cNvPr id="2" name="Google Shape;474;p35">
            <a:extLst>
              <a:ext uri="{FF2B5EF4-FFF2-40B4-BE49-F238E27FC236}">
                <a16:creationId xmlns:a16="http://schemas.microsoft.com/office/drawing/2014/main" id="{87A0587C-823B-5D4F-5D8A-5BE66C06A6F4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3" name="Google Shape;475;p35">
              <a:extLst>
                <a:ext uri="{FF2B5EF4-FFF2-40B4-BE49-F238E27FC236}">
                  <a16:creationId xmlns:a16="http://schemas.microsoft.com/office/drawing/2014/main" id="{0C5BE994-5126-8BC8-02BC-EEB63C6AA575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476;p35">
              <a:extLst>
                <a:ext uri="{FF2B5EF4-FFF2-40B4-BE49-F238E27FC236}">
                  <a16:creationId xmlns:a16="http://schemas.microsoft.com/office/drawing/2014/main" id="{5B7E89C5-3B36-D229-479E-13C3F17636DA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477;p35">
              <a:extLst>
                <a:ext uri="{FF2B5EF4-FFF2-40B4-BE49-F238E27FC236}">
                  <a16:creationId xmlns:a16="http://schemas.microsoft.com/office/drawing/2014/main" id="{180BEDD1-6078-01B2-EE98-0B78A9189BBD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478;p35">
              <a:extLst>
                <a:ext uri="{FF2B5EF4-FFF2-40B4-BE49-F238E27FC236}">
                  <a16:creationId xmlns:a16="http://schemas.microsoft.com/office/drawing/2014/main" id="{330BE6F8-38D9-14EB-0F73-8ED330D8E162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" name="Google Shape;479;p35">
              <a:extLst>
                <a:ext uri="{FF2B5EF4-FFF2-40B4-BE49-F238E27FC236}">
                  <a16:creationId xmlns:a16="http://schemas.microsoft.com/office/drawing/2014/main" id="{9A347F57-049F-F863-BD9D-3CCD62464025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8" name="Google Shape;480;p35">
                <a:extLst>
                  <a:ext uri="{FF2B5EF4-FFF2-40B4-BE49-F238E27FC236}">
                    <a16:creationId xmlns:a16="http://schemas.microsoft.com/office/drawing/2014/main" id="{52ECD83C-88B6-12A8-609A-28E5DA4A9CA9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481;p35">
                <a:extLst>
                  <a:ext uri="{FF2B5EF4-FFF2-40B4-BE49-F238E27FC236}">
                    <a16:creationId xmlns:a16="http://schemas.microsoft.com/office/drawing/2014/main" id="{982498DE-E5C2-A7AA-E475-717049D11056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482;p35">
                <a:extLst>
                  <a:ext uri="{FF2B5EF4-FFF2-40B4-BE49-F238E27FC236}">
                    <a16:creationId xmlns:a16="http://schemas.microsoft.com/office/drawing/2014/main" id="{E6CE90DF-F252-99AD-4377-D2B0A4519DF9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483;p35">
                <a:extLst>
                  <a:ext uri="{FF2B5EF4-FFF2-40B4-BE49-F238E27FC236}">
                    <a16:creationId xmlns:a16="http://schemas.microsoft.com/office/drawing/2014/main" id="{7D927DFF-D30A-A65B-C1B7-F44C02C448D7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484;p35">
                <a:extLst>
                  <a:ext uri="{FF2B5EF4-FFF2-40B4-BE49-F238E27FC236}">
                    <a16:creationId xmlns:a16="http://schemas.microsoft.com/office/drawing/2014/main" id="{D9626DDC-532A-D3B6-296C-B416BCDC772B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485;p35">
                <a:extLst>
                  <a:ext uri="{FF2B5EF4-FFF2-40B4-BE49-F238E27FC236}">
                    <a16:creationId xmlns:a16="http://schemas.microsoft.com/office/drawing/2014/main" id="{D87A04CE-DD9C-5630-B5C2-3B94A447D404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486;p35">
                <a:extLst>
                  <a:ext uri="{FF2B5EF4-FFF2-40B4-BE49-F238E27FC236}">
                    <a16:creationId xmlns:a16="http://schemas.microsoft.com/office/drawing/2014/main" id="{E225C09F-87A3-CF60-376E-CF7D2AA8EB99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87;p35">
                <a:extLst>
                  <a:ext uri="{FF2B5EF4-FFF2-40B4-BE49-F238E27FC236}">
                    <a16:creationId xmlns:a16="http://schemas.microsoft.com/office/drawing/2014/main" id="{945BB5CF-BEE1-980F-99B3-5C34C02EAA97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488;p35">
                <a:extLst>
                  <a:ext uri="{FF2B5EF4-FFF2-40B4-BE49-F238E27FC236}">
                    <a16:creationId xmlns:a16="http://schemas.microsoft.com/office/drawing/2014/main" id="{1EA53B39-0FCD-534E-C32C-0DD05B1E9DE6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489;p35">
                <a:extLst>
                  <a:ext uri="{FF2B5EF4-FFF2-40B4-BE49-F238E27FC236}">
                    <a16:creationId xmlns:a16="http://schemas.microsoft.com/office/drawing/2014/main" id="{14EA0F3C-E46F-A1BC-B8B8-A00C943DB553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" name="Google Shape;490;p35">
            <a:extLst>
              <a:ext uri="{FF2B5EF4-FFF2-40B4-BE49-F238E27FC236}">
                <a16:creationId xmlns:a16="http://schemas.microsoft.com/office/drawing/2014/main" id="{1FC7FB57-0FED-171E-8AA5-1B6BA56DEE38}"/>
              </a:ext>
            </a:extLst>
          </p:cNvPr>
          <p:cNvGrpSpPr/>
          <p:nvPr/>
        </p:nvGrpSpPr>
        <p:grpSpPr>
          <a:xfrm>
            <a:off x="454351" y="5173639"/>
            <a:ext cx="304639" cy="301465"/>
            <a:chOff x="6941066" y="2777637"/>
            <a:chExt cx="456958" cy="452197"/>
          </a:xfrm>
          <a:noFill/>
        </p:grpSpPr>
        <p:grpSp>
          <p:nvGrpSpPr>
            <p:cNvPr id="19" name="Google Shape;491;p35">
              <a:extLst>
                <a:ext uri="{FF2B5EF4-FFF2-40B4-BE49-F238E27FC236}">
                  <a16:creationId xmlns:a16="http://schemas.microsoft.com/office/drawing/2014/main" id="{0A518AF7-C2DB-4816-0AE3-14194F4BCBED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30" name="Google Shape;492;p35">
                <a:extLst>
                  <a:ext uri="{FF2B5EF4-FFF2-40B4-BE49-F238E27FC236}">
                    <a16:creationId xmlns:a16="http://schemas.microsoft.com/office/drawing/2014/main" id="{8CD995F4-E87A-E380-6808-C0FFD3706162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93;p35">
                <a:extLst>
                  <a:ext uri="{FF2B5EF4-FFF2-40B4-BE49-F238E27FC236}">
                    <a16:creationId xmlns:a16="http://schemas.microsoft.com/office/drawing/2014/main" id="{3A479141-9B98-D87C-8C63-8A77121FA856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" name="Google Shape;494;p35">
              <a:extLst>
                <a:ext uri="{FF2B5EF4-FFF2-40B4-BE49-F238E27FC236}">
                  <a16:creationId xmlns:a16="http://schemas.microsoft.com/office/drawing/2014/main" id="{747BE0E0-006F-4B66-0187-BE5FAB3A4A7B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28" name="Google Shape;495;p35">
                <a:extLst>
                  <a:ext uri="{FF2B5EF4-FFF2-40B4-BE49-F238E27FC236}">
                    <a16:creationId xmlns:a16="http://schemas.microsoft.com/office/drawing/2014/main" id="{2CA6C8A2-984D-FECA-8234-B81FF442D2C3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496;p35">
                <a:extLst>
                  <a:ext uri="{FF2B5EF4-FFF2-40B4-BE49-F238E27FC236}">
                    <a16:creationId xmlns:a16="http://schemas.microsoft.com/office/drawing/2014/main" id="{EC29FC9C-CC78-88F4-266A-5E0252B322F1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" name="Google Shape;497;p35">
              <a:extLst>
                <a:ext uri="{FF2B5EF4-FFF2-40B4-BE49-F238E27FC236}">
                  <a16:creationId xmlns:a16="http://schemas.microsoft.com/office/drawing/2014/main" id="{59A21457-CDDD-E007-F839-155F55299D1B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25" name="Google Shape;498;p35">
                <a:extLst>
                  <a:ext uri="{FF2B5EF4-FFF2-40B4-BE49-F238E27FC236}">
                    <a16:creationId xmlns:a16="http://schemas.microsoft.com/office/drawing/2014/main" id="{83D8E3FF-C09A-8752-BB22-11F158E9EA4E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499;p35">
                <a:extLst>
                  <a:ext uri="{FF2B5EF4-FFF2-40B4-BE49-F238E27FC236}">
                    <a16:creationId xmlns:a16="http://schemas.microsoft.com/office/drawing/2014/main" id="{4ADE0986-310A-0FF2-D011-FFAE9EAF1568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00;p35">
                <a:extLst>
                  <a:ext uri="{FF2B5EF4-FFF2-40B4-BE49-F238E27FC236}">
                    <a16:creationId xmlns:a16="http://schemas.microsoft.com/office/drawing/2014/main" id="{5F5CF78E-3CBB-41BE-43EC-2CF9EFE283B5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501;p35">
              <a:extLst>
                <a:ext uri="{FF2B5EF4-FFF2-40B4-BE49-F238E27FC236}">
                  <a16:creationId xmlns:a16="http://schemas.microsoft.com/office/drawing/2014/main" id="{2040E370-5AF1-C44E-320F-5479FB5DB94D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23" name="Google Shape;502;p35">
                <a:extLst>
                  <a:ext uri="{FF2B5EF4-FFF2-40B4-BE49-F238E27FC236}">
                    <a16:creationId xmlns:a16="http://schemas.microsoft.com/office/drawing/2014/main" id="{BA3737E7-E90D-FD6B-C509-E0DA7056DEEB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503;p35">
                <a:extLst>
                  <a:ext uri="{FF2B5EF4-FFF2-40B4-BE49-F238E27FC236}">
                    <a16:creationId xmlns:a16="http://schemas.microsoft.com/office/drawing/2014/main" id="{73718C6B-4D13-884B-4835-17C7CAFE990E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" name="Espaço Reservado para Texto 60">
            <a:extLst>
              <a:ext uri="{FF2B5EF4-FFF2-40B4-BE49-F238E27FC236}">
                <a16:creationId xmlns:a16="http://schemas.microsoft.com/office/drawing/2014/main" id="{FC1AB12D-EE59-AECE-2450-87B9B068F181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>
                <a:solidFill>
                  <a:schemeClr val="tx1"/>
                </a:solidFill>
              </a:rPr>
              <a:t>Em duplas</a:t>
            </a:r>
          </a:p>
        </p:txBody>
      </p:sp>
      <p:sp>
        <p:nvSpPr>
          <p:cNvPr id="33" name="Espaço Reservado para Texto 60">
            <a:extLst>
              <a:ext uri="{FF2B5EF4-FFF2-40B4-BE49-F238E27FC236}">
                <a16:creationId xmlns:a16="http://schemas.microsoft.com/office/drawing/2014/main" id="{033454C4-5A20-8406-541C-F7AE6720652B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20 minutos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p309"/>
          <p:cNvSpPr txBox="1"/>
          <p:nvPr/>
        </p:nvSpPr>
        <p:spPr>
          <a:xfrm>
            <a:off x="2832629" y="795918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Expectativas de respostas</a:t>
            </a:r>
            <a:endParaRPr sz="3200" dirty="0"/>
          </a:p>
        </p:txBody>
      </p:sp>
      <p:pic>
        <p:nvPicPr>
          <p:cNvPr id="3387" name="Google Shape;3387;p3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8541" y="1535174"/>
            <a:ext cx="4414918" cy="4433007"/>
          </a:xfrm>
          <a:prstGeom prst="rect">
            <a:avLst/>
          </a:prstGeom>
          <a:noFill/>
          <a:ln>
            <a:noFill/>
          </a:ln>
        </p:spPr>
      </p:pic>
      <p:sp>
        <p:nvSpPr>
          <p:cNvPr id="3388" name="Google Shape;3388;p309"/>
          <p:cNvSpPr txBox="1"/>
          <p:nvPr/>
        </p:nvSpPr>
        <p:spPr>
          <a:xfrm>
            <a:off x="3799971" y="5968181"/>
            <a:ext cx="5839329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3" name="Google Shape;3393;p310" title="diagrama 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1625" y="342900"/>
            <a:ext cx="5369225" cy="6134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29C5DCA-59A9-B313-F0AF-BBC8E48F707D}"/>
              </a:ext>
            </a:extLst>
          </p:cNvPr>
          <p:cNvSpPr txBox="1"/>
          <p:nvPr/>
        </p:nvSpPr>
        <p:spPr>
          <a:xfrm>
            <a:off x="5241625" y="6513611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 panose="00000500000000000000" pitchFamily="2" charset="0"/>
              </a:rPr>
              <a:t>Produzido pela SEDUC-SP com apoio da ferramenta ChatGPT.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311"/>
          <p:cNvSpPr txBox="1">
            <a:spLocks noGrp="1"/>
          </p:cNvSpPr>
          <p:nvPr>
            <p:ph type="body" idx="1"/>
          </p:nvPr>
        </p:nvSpPr>
        <p:spPr>
          <a:xfrm>
            <a:off x="5618100" y="1216901"/>
            <a:ext cx="5888100" cy="2354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Documentação oficial do Python</a:t>
            </a:r>
            <a:endParaRPr sz="1800" b="1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Explore a documentação oficial para conhecer melhor como Python organiza o fluxo de execução dos programas com funções, estruturas de decisão e outros recursos. Nela, você também encontrará explicações sobre tratamento de erros e outros tópicos relacionados.</a:t>
            </a:r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PYTHON SOFTWARE FOUNDATION. Mais ferramentas de controle de fluxo. Python 3.14.3 </a:t>
            </a:r>
            <a:r>
              <a:rPr lang="pt-BR" sz="1800" dirty="0" err="1"/>
              <a:t>documentation</a:t>
            </a:r>
            <a:r>
              <a:rPr lang="pt-BR" sz="1800" dirty="0"/>
              <a:t>. Disponível em: </a:t>
            </a:r>
            <a:r>
              <a:rPr lang="pt-BR" sz="1800" dirty="0">
                <a:hlinkClick r:id="rId3"/>
              </a:rPr>
              <a:t>https://docs.python.org/</a:t>
            </a:r>
            <a:r>
              <a:rPr lang="pt-BR" sz="1800" dirty="0" err="1">
                <a:hlinkClick r:id="rId3"/>
              </a:rPr>
              <a:t>pt-br</a:t>
            </a:r>
            <a:r>
              <a:rPr lang="pt-BR" sz="1800" dirty="0">
                <a:hlinkClick r:id="rId3"/>
              </a:rPr>
              <a:t>/3/tutorial/controlflow.html</a:t>
            </a:r>
            <a:r>
              <a:rPr lang="pt-BR" sz="1800" dirty="0"/>
              <a:t>. </a:t>
            </a:r>
            <a:br>
              <a:rPr lang="pt-BR" sz="1800" dirty="0"/>
            </a:br>
            <a:r>
              <a:rPr lang="pt-BR" sz="1800" dirty="0"/>
              <a:t>Acesso em: 17 ago. 2026.</a:t>
            </a:r>
            <a:endParaRPr sz="1800" dirty="0"/>
          </a:p>
        </p:txBody>
      </p:sp>
      <p:sp>
        <p:nvSpPr>
          <p:cNvPr id="3399" name="Google Shape;3399;p311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312"/>
          <p:cNvSpPr txBox="1">
            <a:spLocks noGrp="1"/>
          </p:cNvSpPr>
          <p:nvPr>
            <p:ph type="body" idx="1"/>
          </p:nvPr>
        </p:nvSpPr>
        <p:spPr>
          <a:xfrm>
            <a:off x="555150" y="1568450"/>
            <a:ext cx="11389200" cy="212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Definindo funções. </a:t>
            </a:r>
            <a:r>
              <a:rPr lang="pt-BR" b="1" dirty="0"/>
              <a:t>Documentação Python</a:t>
            </a:r>
            <a:r>
              <a:rPr lang="pt-BR" dirty="0"/>
              <a:t>. Disponível em:</a:t>
            </a:r>
            <a:r>
              <a:rPr lang="pt-BR" dirty="0">
                <a:uFill>
                  <a:noFill/>
                </a:uFill>
                <a:hlinkClick r:id="rId3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4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/3/tutorial/</a:t>
            </a:r>
            <a:r>
              <a:rPr lang="pt-BR" u="sng" dirty="0" err="1">
                <a:solidFill>
                  <a:schemeClr val="hlink"/>
                </a:solidFill>
                <a:hlinkClick r:id="rId4"/>
              </a:rPr>
              <a:t>controlflow.html#defining-functions</a:t>
            </a:r>
            <a:r>
              <a:rPr lang="pt-BR" dirty="0"/>
              <a:t>. Acesso em: 17 ago. 2026.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PYTHON SOFTWARE FOUNDATION. Erros e exceções.</a:t>
            </a:r>
            <a:r>
              <a:rPr lang="pt-BR" b="1" dirty="0"/>
              <a:t> Documentação Python</a:t>
            </a:r>
            <a:r>
              <a:rPr lang="pt-BR" dirty="0"/>
              <a:t>. Disponível em:</a:t>
            </a:r>
            <a:r>
              <a:rPr lang="pt-BR" dirty="0">
                <a:uFill>
                  <a:noFill/>
                </a:uFill>
                <a:hlinkClick r:id="rId5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5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/3/tutorial/errors.html</a:t>
            </a:r>
            <a:r>
              <a:rPr lang="pt-BR" dirty="0"/>
              <a:t>. Acesso em: 17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Mais ferramentas de controle de fluxo. </a:t>
            </a:r>
            <a:r>
              <a:rPr lang="pt-BR" b="1" dirty="0"/>
              <a:t>Documentação Python</a:t>
            </a:r>
            <a:r>
              <a:rPr lang="pt-BR" dirty="0"/>
              <a:t>. Disponível em:</a:t>
            </a:r>
            <a:r>
              <a:rPr lang="pt-BR" dirty="0">
                <a:uFill>
                  <a:noFill/>
                </a:uFill>
                <a:hlinkClick r:id="rId3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/3/tutorial/controlflow.html</a:t>
            </a:r>
            <a:r>
              <a:rPr lang="pt-BR" dirty="0"/>
              <a:t>. Acesso em: 17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  <p:sp>
        <p:nvSpPr>
          <p:cNvPr id="3405" name="Google Shape;3405;p312"/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p314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7" name="Google Shape;3417;p314"/>
          <p:cNvSpPr txBox="1"/>
          <p:nvPr/>
        </p:nvSpPr>
        <p:spPr>
          <a:xfrm>
            <a:off x="985526" y="795750"/>
            <a:ext cx="74166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6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7</a:t>
            </a:r>
            <a:endParaRPr dirty="0"/>
          </a:p>
        </p:txBody>
      </p:sp>
      <p:cxnSp>
        <p:nvCxnSpPr>
          <p:cNvPr id="3418" name="Google Shape;3418;p314"/>
          <p:cNvCxnSpPr>
            <a:cxnSpLocks/>
          </p:cNvCxnSpPr>
          <p:nvPr/>
        </p:nvCxnSpPr>
        <p:spPr>
          <a:xfrm flipV="1">
            <a:off x="685795" y="996588"/>
            <a:ext cx="0" cy="353731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20" name="Google Shape;3420;p314"/>
          <p:cNvSpPr/>
          <p:nvPr/>
        </p:nvSpPr>
        <p:spPr>
          <a:xfrm>
            <a:off x="497841" y="2295728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1" name="Google Shape;3421;p314"/>
          <p:cNvSpPr/>
          <p:nvPr/>
        </p:nvSpPr>
        <p:spPr>
          <a:xfrm>
            <a:off x="497841" y="13186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2" name="Google Shape;3422;p314"/>
          <p:cNvSpPr/>
          <p:nvPr/>
        </p:nvSpPr>
        <p:spPr>
          <a:xfrm>
            <a:off x="569897" y="14171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314"/>
          <p:cNvSpPr/>
          <p:nvPr/>
        </p:nvSpPr>
        <p:spPr>
          <a:xfrm>
            <a:off x="566852" y="2374158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4" name="Google Shape;3424;p314"/>
          <p:cNvSpPr txBox="1"/>
          <p:nvPr/>
        </p:nvSpPr>
        <p:spPr>
          <a:xfrm>
            <a:off x="956025" y="1352400"/>
            <a:ext cx="10726500" cy="306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retome o programa desenvolvido na aula anterior e destaque que ele já funciona corretamente. Incentive os estudantes a observar como o código está organizado e conduza a reflexão sobre as dificuldades que poderiam surgir caso fosse necessário adicionar novas opções ao menu. O objetivo deste momento é criar a necessidade de organizar melhor o programa antes de apresentar o conceito de funções.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5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projete o código da aula anterior e dê tempo para que os estudantes o releiam antes de iniciar a discussão;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incentive a participação de diferentes alunos, valorizando respostas que proponham dividir o programa em partes ou torná-lo mais fácil de modificar;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durante a técnica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Lemov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utilizada no segundo slide, solicite que alguns estudantes compartilhem suas respostas antes de formalizar o conceito.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novamente o programa construído na Aula 1 e pergunte se ele continuaria fácil de manter caso novas opções fossem adicionadas ao menu;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após ouvir as hipóteses da turma, conduza a discussão para a ideia de organizar o código em partes menores, preparando a introdução das funções como uma estratégia para melhorar a legibilidade e a manutenção do programa.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reconheçam que o programa funciona, mas que sua organização pode ser aprimorada à medida que cresce. As respostas podem mencionar a necessidade de separar tarefas, evitar repetição de código ou facilitar futuras alterações, criando uma ponte natural para o estudo das funções.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5" name="Google Shape;3425;p314"/>
          <p:cNvSpPr/>
          <p:nvPr/>
        </p:nvSpPr>
        <p:spPr>
          <a:xfrm>
            <a:off x="497841" y="1831708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6" name="Google Shape;3426;p3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25414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27" name="Google Shape;3427;p314"/>
          <p:cNvGrpSpPr/>
          <p:nvPr/>
        </p:nvGrpSpPr>
        <p:grpSpPr>
          <a:xfrm>
            <a:off x="497841" y="3066941"/>
            <a:ext cx="386100" cy="382500"/>
            <a:chOff x="497841" y="3037886"/>
            <a:chExt cx="386100" cy="382500"/>
          </a:xfrm>
        </p:grpSpPr>
        <p:sp>
          <p:nvSpPr>
            <p:cNvPr id="3428" name="Google Shape;3428;p314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29" name="Google Shape;3429;p314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0" name="Google Shape;3430;p314"/>
          <p:cNvGrpSpPr/>
          <p:nvPr/>
        </p:nvGrpSpPr>
        <p:grpSpPr>
          <a:xfrm>
            <a:off x="497841" y="3854417"/>
            <a:ext cx="386100" cy="382500"/>
            <a:chOff x="497841" y="3801694"/>
            <a:chExt cx="386100" cy="382500"/>
          </a:xfrm>
        </p:grpSpPr>
        <p:sp>
          <p:nvSpPr>
            <p:cNvPr id="3431" name="Google Shape;3431;p314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19" name="Google Shape;3419;p314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31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p315"/>
          <p:cNvSpPr txBox="1"/>
          <p:nvPr/>
        </p:nvSpPr>
        <p:spPr>
          <a:xfrm>
            <a:off x="985525" y="795750"/>
            <a:ext cx="96006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a 15</a:t>
            </a:r>
            <a:endParaRPr dirty="0"/>
          </a:p>
        </p:txBody>
      </p:sp>
      <p:sp>
        <p:nvSpPr>
          <p:cNvPr id="3439" name="Google Shape;3439;p315"/>
          <p:cNvSpPr txBox="1"/>
          <p:nvPr/>
        </p:nvSpPr>
        <p:spPr>
          <a:xfrm>
            <a:off x="956025" y="1352400"/>
            <a:ext cx="10726500" cy="4370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presente os conceitos acompanhando a evolução do mesmo programa utilizado na aula anterior. Destaque que as funções não alteram o comportamento do programa, mas tornam sua organização mais clara e facilitam futuras modificações. Em seguida, mostre que validar a entrada do usuário aumenta a confiabilidade do programa, evitando a execução de opções inválidas.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após cada etapa, incentive os estudantes a identificarem o que mudou no programa e por que essa alteração foi realizada;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valorize respostas que relacionem funções à organização do código e validação à prevenção de comportamentos inesperados;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utilize os momentos de discussão para verificar a compreensão da turma antes de avançar para o próximo conceito.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inicie mostrando como o menu pode ser organizado em funções, destacando que cada uma possui uma responsabilidade específica. Em seguida, apresente como o menu chama a função correspondente à opção escolhida. Por fim, explore situações em que o usuário informa uma opção inexistente e conduza a turma à necessidade de validar essa entrada antes da execução de qualquer ação;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utilize o diagrama final para sintetizar a relação entre menu, validação e funções.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slide 39: 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realize a estratégia </a:t>
            </a:r>
            <a:r>
              <a:rPr lang="pt-BR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Lemov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“Com suas palavras”. Convide alguns estudantes a responderem oralmente à pergunta antes de prosseguir com a explicação. Incentive que utilizem exemplos do programa desenvolvido na aula anterior e valorize diferentes formas de explicar a ideia de validação. Utilize esse momento para verificar se a turma compreendeu que o programa deve analisar a entrada do usuário antes de executar qualquer ação, sem antecipar a implementação da solução;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slide 41: 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Realize a estratégia </a:t>
            </a:r>
            <a:r>
              <a:rPr lang="pt-BR" sz="10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Lemov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“Todo mundo escreve”. Conceda alguns minutos para que todos registrem individualmente sua resposta. Em seguida, solicite que alguns estudantes compartilhem suas justificativas e conduza a discussão destacando que organizar o código em funções facilita a manutenção, mas não elimina a necessidade de validar as entradas informadas pelo usuário. Finalize relacionando as respostas ao diagrama de síntese apresentado no slide seguinte.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espera-se que os estudantes compreendam que funções organizam o programa em responsabilidades específicas e que a validação garante que apenas opções previstas sejam executadas. Ao final da seção, devem ser capazes de identificar, em um programa simples, onde ocorre a chamada de funções e em que momento a entrada do usuário deve ser validada antes da execução da ação correspondente.</a:t>
            </a:r>
            <a:endParaRPr sz="1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440" name="Google Shape;3440;p315"/>
          <p:cNvCxnSpPr>
            <a:cxnSpLocks/>
          </p:cNvCxnSpPr>
          <p:nvPr/>
        </p:nvCxnSpPr>
        <p:spPr>
          <a:xfrm flipV="1">
            <a:off x="685795" y="1043538"/>
            <a:ext cx="0" cy="490958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42" name="Google Shape;3442;p315"/>
          <p:cNvSpPr/>
          <p:nvPr/>
        </p:nvSpPr>
        <p:spPr>
          <a:xfrm>
            <a:off x="497841" y="2347698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3" name="Google Shape;3443;p315"/>
          <p:cNvSpPr/>
          <p:nvPr/>
        </p:nvSpPr>
        <p:spPr>
          <a:xfrm>
            <a:off x="497841" y="13186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4" name="Google Shape;3444;p315"/>
          <p:cNvSpPr/>
          <p:nvPr/>
        </p:nvSpPr>
        <p:spPr>
          <a:xfrm>
            <a:off x="569897" y="14171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5" name="Google Shape;3445;p315"/>
          <p:cNvSpPr/>
          <p:nvPr/>
        </p:nvSpPr>
        <p:spPr>
          <a:xfrm>
            <a:off x="566852" y="2426128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6" name="Google Shape;3446;p315"/>
          <p:cNvSpPr/>
          <p:nvPr/>
        </p:nvSpPr>
        <p:spPr>
          <a:xfrm>
            <a:off x="497841" y="185274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7" name="Google Shape;3447;p3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672" y="1961000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8" name="Google Shape;3448;p315"/>
          <p:cNvGrpSpPr/>
          <p:nvPr/>
        </p:nvGrpSpPr>
        <p:grpSpPr>
          <a:xfrm>
            <a:off x="497841" y="3068228"/>
            <a:ext cx="386100" cy="382500"/>
            <a:chOff x="497841" y="3037886"/>
            <a:chExt cx="386100" cy="382500"/>
          </a:xfrm>
        </p:grpSpPr>
        <p:sp>
          <p:nvSpPr>
            <p:cNvPr id="3449" name="Google Shape;3449;p315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50" name="Google Shape;3450;p315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51" name="Google Shape;3451;p315"/>
          <p:cNvGrpSpPr/>
          <p:nvPr/>
        </p:nvGrpSpPr>
        <p:grpSpPr>
          <a:xfrm>
            <a:off x="497841" y="5051712"/>
            <a:ext cx="386100" cy="382500"/>
            <a:chOff x="497841" y="3801694"/>
            <a:chExt cx="386100" cy="382500"/>
          </a:xfrm>
        </p:grpSpPr>
        <p:sp>
          <p:nvSpPr>
            <p:cNvPr id="3452" name="Google Shape;3452;p31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41" name="Google Shape;3441;p315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8" name="Google Shape;3458;p316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9" name="Google Shape;3459;p316"/>
          <p:cNvSpPr txBox="1"/>
          <p:nvPr/>
        </p:nvSpPr>
        <p:spPr>
          <a:xfrm>
            <a:off x="985527" y="795750"/>
            <a:ext cx="8432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dirty="0"/>
          </a:p>
        </p:txBody>
      </p:sp>
      <p:cxnSp>
        <p:nvCxnSpPr>
          <p:cNvPr id="3460" name="Google Shape;3460;p316"/>
          <p:cNvCxnSpPr>
            <a:cxnSpLocks/>
          </p:cNvCxnSpPr>
          <p:nvPr/>
        </p:nvCxnSpPr>
        <p:spPr>
          <a:xfrm flipV="1">
            <a:off x="690895" y="1036115"/>
            <a:ext cx="0" cy="210713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63" name="Google Shape;3463;p316"/>
          <p:cNvSpPr/>
          <p:nvPr/>
        </p:nvSpPr>
        <p:spPr>
          <a:xfrm>
            <a:off x="497841" y="1813999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5" name="Google Shape;3465;p316"/>
          <p:cNvSpPr txBox="1"/>
          <p:nvPr/>
        </p:nvSpPr>
        <p:spPr>
          <a:xfrm>
            <a:off x="985524" y="1432475"/>
            <a:ext cx="9944400" cy="121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 objetivo da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Pause e responda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é mobilizar os estudantes em relação aos conhecimentos apresentados e construídos em aula. É uma atividade de registro.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 a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lternativa correta: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“Validar a entrada informada pelo usuário.”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antes de executar qualquer função, o programa deve verificar se a opção informada é válida. Essa validação evita comportamentos inesperados e torna o programa mais confiável.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66" name="Google Shape;3466;p3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07705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7" name="Google Shape;3467;p316"/>
          <p:cNvGrpSpPr/>
          <p:nvPr/>
        </p:nvGrpSpPr>
        <p:grpSpPr>
          <a:xfrm>
            <a:off x="497841" y="2249119"/>
            <a:ext cx="386100" cy="382500"/>
            <a:chOff x="497841" y="3801694"/>
            <a:chExt cx="386100" cy="382500"/>
          </a:xfrm>
        </p:grpSpPr>
        <p:sp>
          <p:nvSpPr>
            <p:cNvPr id="3468" name="Google Shape;3468;p316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61" name="Google Shape;3461;p316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oogle Shape;3580;p335">
            <a:extLst>
              <a:ext uri="{FF2B5EF4-FFF2-40B4-BE49-F238E27FC236}">
                <a16:creationId xmlns:a16="http://schemas.microsoft.com/office/drawing/2014/main" id="{39DFC057-0EF1-1C71-5F14-979F331AEFB5}"/>
              </a:ext>
            </a:extLst>
          </p:cNvPr>
          <p:cNvGrpSpPr/>
          <p:nvPr/>
        </p:nvGrpSpPr>
        <p:grpSpPr>
          <a:xfrm>
            <a:off x="497841" y="1394804"/>
            <a:ext cx="386100" cy="382500"/>
            <a:chOff x="497841" y="1318604"/>
            <a:chExt cx="386100" cy="382500"/>
          </a:xfrm>
        </p:grpSpPr>
        <p:sp>
          <p:nvSpPr>
            <p:cNvPr id="3" name="Google Shape;3581;p335">
              <a:extLst>
                <a:ext uri="{FF2B5EF4-FFF2-40B4-BE49-F238E27FC236}">
                  <a16:creationId xmlns:a16="http://schemas.microsoft.com/office/drawing/2014/main" id="{0724772D-B372-D32C-3047-C6C21856B5A3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3582;p335">
              <a:extLst>
                <a:ext uri="{FF2B5EF4-FFF2-40B4-BE49-F238E27FC236}">
                  <a16:creationId xmlns:a16="http://schemas.microsoft.com/office/drawing/2014/main" id="{D8E86304-3B67-3588-97AA-8E0807F64442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4" name="Google Shape;3474;p317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317"/>
          <p:cNvSpPr txBox="1"/>
          <p:nvPr/>
        </p:nvSpPr>
        <p:spPr>
          <a:xfrm>
            <a:off x="974103" y="798425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18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20</a:t>
            </a:r>
            <a:endParaRPr dirty="0"/>
          </a:p>
        </p:txBody>
      </p:sp>
      <p:sp>
        <p:nvSpPr>
          <p:cNvPr id="3476" name="Google Shape;3476;p317"/>
          <p:cNvSpPr txBox="1"/>
          <p:nvPr/>
        </p:nvSpPr>
        <p:spPr>
          <a:xfrm>
            <a:off x="985519" y="1372059"/>
            <a:ext cx="10708637" cy="290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onduza a reorganização do programa passo a passo, mostrando que as alterações realizadas melhoram a organização do código sem modificar seu funcionamento. Oriente os estudantes a testar o programa após cada etapa, verificando se ele continua executando corretamente antes de acrescentar a validação da entrada.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acompanhe o ritmo da turma durante a criação das funções e da validação, oferecendo apoio aos estudantes que encontrarem dificuldades na reorganização do código. Incentive que todos executem o programa com diferentes entradas para observar seu comportamento em cada situação.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projete o programa e reorganize-o juntamente com a turma, criando as funções propostas e executando o código após cada alteração;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em seguida, acrescente a validação para tratar opções inválidas e teste, coletivamente, diferentes entradas, comparando o comportamento do programa antes e depois da validação;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aproveite esse momento para reforçar que as funções organizam o código, enquanto a validação torna sua execução mais confiável.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consigam reorganizar o programa utilizando funções, implementar uma validação simples para a entrada do usuário e reconhecer que essas alterações melhoram a organização e a confiabilidade do programa, sem modificar sua funcionalidade principal. Também é esperado que percebam que o programa ainda é executado apenas uma vez, preparando a necessidade de utilizar estruturas de repetição nas próximas aulas.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477" name="Google Shape;3477;p317"/>
          <p:cNvCxnSpPr>
            <a:cxnSpLocks/>
          </p:cNvCxnSpPr>
          <p:nvPr/>
        </p:nvCxnSpPr>
        <p:spPr>
          <a:xfrm flipV="1">
            <a:off x="690895" y="1036338"/>
            <a:ext cx="0" cy="353566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479" name="Google Shape;3479;p317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480" name="Google Shape;3480;p317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1" name="Google Shape;3481;p317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2" name="Google Shape;3482;p317"/>
          <p:cNvGrpSpPr/>
          <p:nvPr/>
        </p:nvGrpSpPr>
        <p:grpSpPr>
          <a:xfrm>
            <a:off x="497841" y="2301832"/>
            <a:ext cx="386100" cy="382500"/>
            <a:chOff x="497841" y="2265726"/>
            <a:chExt cx="386100" cy="382500"/>
          </a:xfrm>
        </p:grpSpPr>
        <p:sp>
          <p:nvSpPr>
            <p:cNvPr id="3483" name="Google Shape;3483;p317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4" name="Google Shape;3484;p317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5" name="Google Shape;3485;p317"/>
          <p:cNvGrpSpPr/>
          <p:nvPr/>
        </p:nvGrpSpPr>
        <p:grpSpPr>
          <a:xfrm>
            <a:off x="497841" y="1874774"/>
            <a:ext cx="386100" cy="382500"/>
            <a:chOff x="497841" y="1802325"/>
            <a:chExt cx="386100" cy="382500"/>
          </a:xfrm>
        </p:grpSpPr>
        <p:sp>
          <p:nvSpPr>
            <p:cNvPr id="3486" name="Google Shape;3486;p317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87" name="Google Shape;3487;p3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88" name="Google Shape;3488;p317"/>
          <p:cNvGrpSpPr/>
          <p:nvPr/>
        </p:nvGrpSpPr>
        <p:grpSpPr>
          <a:xfrm>
            <a:off x="497841" y="2735626"/>
            <a:ext cx="386100" cy="382500"/>
            <a:chOff x="497841" y="3037886"/>
            <a:chExt cx="386100" cy="382500"/>
          </a:xfrm>
        </p:grpSpPr>
        <p:sp>
          <p:nvSpPr>
            <p:cNvPr id="3489" name="Google Shape;3489;p317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90" name="Google Shape;3490;p317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91" name="Google Shape;3491;p317"/>
          <p:cNvGrpSpPr/>
          <p:nvPr/>
        </p:nvGrpSpPr>
        <p:grpSpPr>
          <a:xfrm>
            <a:off x="497841" y="3684197"/>
            <a:ext cx="386100" cy="382500"/>
            <a:chOff x="497841" y="3801694"/>
            <a:chExt cx="386100" cy="382500"/>
          </a:xfrm>
        </p:grpSpPr>
        <p:sp>
          <p:nvSpPr>
            <p:cNvPr id="3492" name="Google Shape;3492;p317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78" name="Google Shape;3478;p317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318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318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0" name="Google Shape;3500;p318"/>
          <p:cNvSpPr txBox="1"/>
          <p:nvPr/>
        </p:nvSpPr>
        <p:spPr>
          <a:xfrm>
            <a:off x="985519" y="1352395"/>
            <a:ext cx="10783800" cy="306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gaje os estudantes rapidamente, pedindo confirmações ou reações breves às definições apresentadas.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eles se encaixam no contexto maior da aula e na vida profissional.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estudantes devem sair da aula com um entendimento claro e preciso dos conceitos principais.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01" name="Google Shape;3501;p318"/>
          <p:cNvCxnSpPr>
            <a:cxnSpLocks/>
          </p:cNvCxnSpPr>
          <p:nvPr/>
        </p:nvCxnSpPr>
        <p:spPr>
          <a:xfrm rot="10800000">
            <a:off x="685795" y="1030565"/>
            <a:ext cx="0" cy="3301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503" name="Google Shape;3503;p318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504" name="Google Shape;3504;p318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5" name="Google Shape;3505;p318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6" name="Google Shape;3506;p318"/>
          <p:cNvGrpSpPr/>
          <p:nvPr/>
        </p:nvGrpSpPr>
        <p:grpSpPr>
          <a:xfrm>
            <a:off x="497841" y="2167643"/>
            <a:ext cx="386100" cy="382500"/>
            <a:chOff x="497841" y="2265726"/>
            <a:chExt cx="386100" cy="382500"/>
          </a:xfrm>
        </p:grpSpPr>
        <p:sp>
          <p:nvSpPr>
            <p:cNvPr id="3507" name="Google Shape;3507;p318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8" name="Google Shape;3508;p318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9" name="Google Shape;3509;p318"/>
          <p:cNvGrpSpPr/>
          <p:nvPr/>
        </p:nvGrpSpPr>
        <p:grpSpPr>
          <a:xfrm>
            <a:off x="497841" y="2895011"/>
            <a:ext cx="386100" cy="382500"/>
            <a:chOff x="497841" y="3037886"/>
            <a:chExt cx="386100" cy="382500"/>
          </a:xfrm>
        </p:grpSpPr>
        <p:sp>
          <p:nvSpPr>
            <p:cNvPr id="3510" name="Google Shape;3510;p31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11" name="Google Shape;3511;p318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2" name="Google Shape;3512;p318"/>
          <p:cNvGrpSpPr/>
          <p:nvPr/>
        </p:nvGrpSpPr>
        <p:grpSpPr>
          <a:xfrm>
            <a:off x="497841" y="3773119"/>
            <a:ext cx="386100" cy="382500"/>
            <a:chOff x="497841" y="3801694"/>
            <a:chExt cx="386100" cy="382500"/>
          </a:xfrm>
        </p:grpSpPr>
        <p:sp>
          <p:nvSpPr>
            <p:cNvPr id="3513" name="Google Shape;3513;p318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02" name="Google Shape;3502;p31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4" name="Google Shape;3514;p318"/>
          <p:cNvGrpSpPr/>
          <p:nvPr/>
        </p:nvGrpSpPr>
        <p:grpSpPr>
          <a:xfrm>
            <a:off x="497841" y="1716600"/>
            <a:ext cx="386100" cy="382500"/>
            <a:chOff x="497841" y="1802325"/>
            <a:chExt cx="386100" cy="382500"/>
          </a:xfrm>
        </p:grpSpPr>
        <p:sp>
          <p:nvSpPr>
            <p:cNvPr id="3515" name="Google Shape;3515;p318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16" name="Google Shape;3516;p3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17" name="Google Shape;3517;p318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318"/>
          <p:cNvSpPr txBox="1"/>
          <p:nvPr/>
        </p:nvSpPr>
        <p:spPr>
          <a:xfrm>
            <a:off x="985520" y="47581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22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9" name="Google Shape;3519;p318"/>
          <p:cNvCxnSpPr>
            <a:cxnSpLocks/>
          </p:cNvCxnSpPr>
          <p:nvPr/>
        </p:nvCxnSpPr>
        <p:spPr>
          <a:xfrm rot="10800000" flipH="1">
            <a:off x="688476" y="4989089"/>
            <a:ext cx="2400" cy="1203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521" name="Google Shape;3521;p318"/>
          <p:cNvSpPr/>
          <p:nvPr/>
        </p:nvSpPr>
        <p:spPr>
          <a:xfrm>
            <a:off x="497841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318"/>
          <p:cNvSpPr/>
          <p:nvPr/>
        </p:nvSpPr>
        <p:spPr>
          <a:xfrm>
            <a:off x="569897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3" name="Google Shape;3523;p318"/>
          <p:cNvSpPr txBox="1"/>
          <p:nvPr/>
        </p:nvSpPr>
        <p:spPr>
          <a:xfrm>
            <a:off x="985525" y="5314800"/>
            <a:ext cx="8988300" cy="907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mais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apresenta recursos extraclasse para que os estudantes complementem sua formação. Incentive-os a continuarem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minuto.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0" name="Google Shape;3520;p318"/>
          <p:cNvSpPr/>
          <p:nvPr/>
        </p:nvSpPr>
        <p:spPr>
          <a:xfrm>
            <a:off x="495426" y="5753039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4" name="Google Shape;3524;p3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657" y="5846745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2471</Words>
  <Application>Microsoft Office PowerPoint</Application>
  <PresentationFormat>Ecrã Panorâmico</PresentationFormat>
  <Paragraphs>204</Paragraphs>
  <Slides>30</Slides>
  <Notes>30</Notes>
  <HiddenSlides>8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dos diapositivos</vt:lpstr>
      </vt:variant>
      <vt:variant>
        <vt:i4>30</vt:i4>
      </vt:variant>
    </vt:vector>
  </HeadingPairs>
  <TitlesOfParts>
    <vt:vector size="39" baseType="lpstr">
      <vt:lpstr>Poppins Medium</vt:lpstr>
      <vt:lpstr>Calibri</vt:lpstr>
      <vt:lpstr>Poppins Light</vt:lpstr>
      <vt:lpstr>Poppins</vt:lpstr>
      <vt:lpstr>Arial</vt:lpstr>
      <vt:lpstr>Office Theme</vt:lpstr>
      <vt:lpstr>Office Theme</vt:lpstr>
      <vt:lpstr>1_Office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Manuela Buk de Araujo</dc:creator>
  <cp:lastModifiedBy>Gustavo Henrique da Silva Oliveira</cp:lastModifiedBy>
  <cp:revision>23</cp:revision>
  <dcterms:modified xsi:type="dcterms:W3CDTF">2026-08-24T12:53:46Z</dcterms:modified>
</cp:coreProperties>
</file>